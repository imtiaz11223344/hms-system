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2" r:id="rId1"/>
  </p:sldMasterIdLst>
  <p:notesMasterIdLst>
    <p:notesMasterId r:id="rId26"/>
  </p:notesMasterIdLst>
  <p:sldIdLst>
    <p:sldId id="270" r:id="rId2"/>
    <p:sldId id="269" r:id="rId3"/>
    <p:sldId id="257" r:id="rId4"/>
    <p:sldId id="258" r:id="rId5"/>
    <p:sldId id="259" r:id="rId6"/>
    <p:sldId id="260" r:id="rId7"/>
    <p:sldId id="261" r:id="rId8"/>
    <p:sldId id="262" r:id="rId9"/>
    <p:sldId id="263" r:id="rId10"/>
    <p:sldId id="264" r:id="rId11"/>
    <p:sldId id="274" r:id="rId12"/>
    <p:sldId id="265" r:id="rId13"/>
    <p:sldId id="266" r:id="rId14"/>
    <p:sldId id="271" r:id="rId15"/>
    <p:sldId id="267" r:id="rId16"/>
    <p:sldId id="272" r:id="rId17"/>
    <p:sldId id="268" r:id="rId18"/>
    <p:sldId id="273" r:id="rId19"/>
    <p:sldId id="275" r:id="rId20"/>
    <p:sldId id="276" r:id="rId21"/>
    <p:sldId id="277" r:id="rId22"/>
    <p:sldId id="278" r:id="rId23"/>
    <p:sldId id="279" r:id="rId24"/>
    <p:sldId id="281"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D086"/>
    <a:srgbClr val="7A2D26"/>
    <a:srgbClr val="E8AE7E"/>
    <a:srgbClr val="A45A1D"/>
    <a:srgbClr val="36748A"/>
    <a:srgbClr val="7887A8"/>
    <a:srgbClr val="3F0D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77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B88BB6-9D2A-4692-A123-EC88A2E55AA8}" type="datetimeFigureOut">
              <a:rPr lang="en-US" smtClean="0"/>
              <a:t>12/10/2025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E23EEF-8EC9-4A9C-9821-5303870926FD}" type="slidenum">
              <a:rPr lang="en-US" smtClean="0"/>
              <a:t>‹#›</a:t>
            </a:fld>
            <a:endParaRPr lang="en-US"/>
          </a:p>
        </p:txBody>
      </p:sp>
    </p:spTree>
    <p:extLst>
      <p:ext uri="{BB962C8B-B14F-4D97-AF65-F5344CB8AC3E}">
        <p14:creationId xmlns:p14="http://schemas.microsoft.com/office/powerpoint/2010/main" val="1165941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8E23EEF-8EC9-4A9C-9821-5303870926FD}" type="slidenum">
              <a:rPr lang="en-US" smtClean="0"/>
              <a:t>8</a:t>
            </a:fld>
            <a:endParaRPr lang="en-US"/>
          </a:p>
        </p:txBody>
      </p:sp>
    </p:spTree>
    <p:extLst>
      <p:ext uri="{BB962C8B-B14F-4D97-AF65-F5344CB8AC3E}">
        <p14:creationId xmlns:p14="http://schemas.microsoft.com/office/powerpoint/2010/main" val="42823317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8E23EEF-8EC9-4A9C-9821-5303870926FD}" type="slidenum">
              <a:rPr lang="en-US" smtClean="0"/>
              <a:t>14</a:t>
            </a:fld>
            <a:endParaRPr lang="en-US"/>
          </a:p>
        </p:txBody>
      </p:sp>
    </p:spTree>
    <p:extLst>
      <p:ext uri="{BB962C8B-B14F-4D97-AF65-F5344CB8AC3E}">
        <p14:creationId xmlns:p14="http://schemas.microsoft.com/office/powerpoint/2010/main" val="189996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8E23EEF-8EC9-4A9C-9821-5303870926FD}" type="slidenum">
              <a:rPr lang="en-US" smtClean="0"/>
              <a:t>23</a:t>
            </a:fld>
            <a:endParaRPr lang="en-US"/>
          </a:p>
        </p:txBody>
      </p:sp>
    </p:spTree>
    <p:extLst>
      <p:ext uri="{BB962C8B-B14F-4D97-AF65-F5344CB8AC3E}">
        <p14:creationId xmlns:p14="http://schemas.microsoft.com/office/powerpoint/2010/main" val="33804662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AB39F89A-7103-4AAD-9918-7E9AEFD9BCA3}" type="datetimeFigureOut">
              <a:rPr lang="en-US" smtClean="0"/>
              <a:t>12/10/2025</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52F60E9C-9FF5-4B80-A960-CCF5AF745330}"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88553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B39F89A-7103-4AAD-9918-7E9AEFD9BCA3}"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F60E9C-9FF5-4B80-A960-CCF5AF745330}" type="slidenum">
              <a:rPr lang="en-US" smtClean="0"/>
              <a:t>‹#›</a:t>
            </a:fld>
            <a:endParaRPr lang="en-US"/>
          </a:p>
        </p:txBody>
      </p:sp>
    </p:spTree>
    <p:extLst>
      <p:ext uri="{BB962C8B-B14F-4D97-AF65-F5344CB8AC3E}">
        <p14:creationId xmlns:p14="http://schemas.microsoft.com/office/powerpoint/2010/main" val="146321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B39F89A-7103-4AAD-9918-7E9AEFD9BCA3}"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F60E9C-9FF5-4B80-A960-CCF5AF745330}"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2687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B39F89A-7103-4AAD-9918-7E9AEFD9BCA3}"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F60E9C-9FF5-4B80-A960-CCF5AF745330}" type="slidenum">
              <a:rPr lang="en-US" smtClean="0"/>
              <a:t>‹#›</a:t>
            </a:fld>
            <a:endParaRPr lang="en-US"/>
          </a:p>
        </p:txBody>
      </p:sp>
    </p:spTree>
    <p:extLst>
      <p:ext uri="{BB962C8B-B14F-4D97-AF65-F5344CB8AC3E}">
        <p14:creationId xmlns:p14="http://schemas.microsoft.com/office/powerpoint/2010/main" val="3529946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B39F89A-7103-4AAD-9918-7E9AEFD9BCA3}" type="datetimeFigureOut">
              <a:rPr lang="en-US" smtClean="0"/>
              <a:t>12/10/2025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2F60E9C-9FF5-4B80-A960-CCF5AF745330}"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41135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B39F89A-7103-4AAD-9918-7E9AEFD9BCA3}" type="datetimeFigureOut">
              <a:rPr lang="en-US" smtClean="0"/>
              <a:t>12/10/2025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2F60E9C-9FF5-4B80-A960-CCF5AF745330}"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3893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39F89A-7103-4AAD-9918-7E9AEFD9BCA3}" type="datetimeFigureOut">
              <a:rPr lang="en-US" smtClean="0"/>
              <a:t>12/10/2025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2F60E9C-9FF5-4B80-A960-CCF5AF745330}" type="slidenum">
              <a:rPr lang="en-US" smtClean="0"/>
              <a:t>‹#›</a:t>
            </a:fld>
            <a:endParaRPr lang="en-US"/>
          </a:p>
        </p:txBody>
      </p:sp>
    </p:spTree>
    <p:extLst>
      <p:ext uri="{BB962C8B-B14F-4D97-AF65-F5344CB8AC3E}">
        <p14:creationId xmlns:p14="http://schemas.microsoft.com/office/powerpoint/2010/main" val="2167992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B39F89A-7103-4AAD-9918-7E9AEFD9BCA3}"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F60E9C-9FF5-4B80-A960-CCF5AF745330}"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5242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B39F89A-7103-4AAD-9918-7E9AEFD9BCA3}"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F60E9C-9FF5-4B80-A960-CCF5AF745330}" type="slidenum">
              <a:rPr lang="en-US" smtClean="0"/>
              <a:t>‹#›</a:t>
            </a:fld>
            <a:endParaRPr lang="en-US"/>
          </a:p>
        </p:txBody>
      </p:sp>
    </p:spTree>
    <p:extLst>
      <p:ext uri="{BB962C8B-B14F-4D97-AF65-F5344CB8AC3E}">
        <p14:creationId xmlns:p14="http://schemas.microsoft.com/office/powerpoint/2010/main" val="175119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B39F89A-7103-4AAD-9918-7E9AEFD9BCA3}"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F60E9C-9FF5-4B80-A960-CCF5AF745330}" type="slidenum">
              <a:rPr lang="en-US" smtClean="0"/>
              <a:t>‹#›</a:t>
            </a:fld>
            <a:endParaRPr lang="en-US"/>
          </a:p>
        </p:txBody>
      </p:sp>
    </p:spTree>
    <p:extLst>
      <p:ext uri="{BB962C8B-B14F-4D97-AF65-F5344CB8AC3E}">
        <p14:creationId xmlns:p14="http://schemas.microsoft.com/office/powerpoint/2010/main" val="789585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B39F89A-7103-4AAD-9918-7E9AEFD9BCA3}"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F60E9C-9FF5-4B80-A960-CCF5AF745330}"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28111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B39F89A-7103-4AAD-9918-7E9AEFD9BCA3}"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F60E9C-9FF5-4B80-A960-CCF5AF745330}"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27395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B39F89A-7103-4AAD-9918-7E9AEFD9BCA3}"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F60E9C-9FF5-4B80-A960-CCF5AF745330}" type="slidenum">
              <a:rPr lang="en-US" smtClean="0"/>
              <a:t>‹#›</a:t>
            </a:fld>
            <a:endParaRPr lang="en-US"/>
          </a:p>
        </p:txBody>
      </p:sp>
    </p:spTree>
    <p:extLst>
      <p:ext uri="{BB962C8B-B14F-4D97-AF65-F5344CB8AC3E}">
        <p14:creationId xmlns:p14="http://schemas.microsoft.com/office/powerpoint/2010/main" val="30929222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B39F89A-7103-4AAD-9918-7E9AEFD9BCA3}"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F60E9C-9FF5-4B80-A960-CCF5AF745330}"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014010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B39F89A-7103-4AAD-9918-7E9AEFD9BCA3}"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F60E9C-9FF5-4B80-A960-CCF5AF745330}"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01234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B39F89A-7103-4AAD-9918-7E9AEFD9BCA3}"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F60E9C-9FF5-4B80-A960-CCF5AF745330}"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7434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B39F89A-7103-4AAD-9918-7E9AEFD9BCA3}"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F60E9C-9FF5-4B80-A960-CCF5AF745330}"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752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solidDmnd">
          <a:fgClr>
            <a:srgbClr val="7030A0"/>
          </a:fgClr>
          <a:bgClr>
            <a:srgbClr val="36748A"/>
          </a:bgClr>
        </a:pattFill>
        <a:effectLst/>
      </p:bgPr>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B39F89A-7103-4AAD-9918-7E9AEFD9BCA3}" type="datetimeFigureOut">
              <a:rPr lang="en-US" smtClean="0"/>
              <a:t>12/10/2025</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2F60E9C-9FF5-4B80-A960-CCF5AF745330}" type="slidenum">
              <a:rPr lang="en-US" smtClean="0"/>
              <a:t>‹#›</a:t>
            </a:fld>
            <a:endParaRPr lang="en-US"/>
          </a:p>
        </p:txBody>
      </p:sp>
    </p:spTree>
    <p:extLst>
      <p:ext uri="{BB962C8B-B14F-4D97-AF65-F5344CB8AC3E}">
        <p14:creationId xmlns:p14="http://schemas.microsoft.com/office/powerpoint/2010/main" val="1043901320"/>
      </p:ext>
    </p:extLst>
  </p:cSld>
  <p:clrMap bg1="lt1" tx1="dk1" bg2="lt2" tx2="dk2" accent1="accent1" accent2="accent2" accent3="accent3" accent4="accent4" accent5="accent5" accent6="accent6" hlink="hlink" folHlink="folHlink"/>
  <p:sldLayoutIdLst>
    <p:sldLayoutId id="2147483953" r:id="rId1"/>
    <p:sldLayoutId id="2147483954" r:id="rId2"/>
    <p:sldLayoutId id="2147483955" r:id="rId3"/>
    <p:sldLayoutId id="2147483956" r:id="rId4"/>
    <p:sldLayoutId id="2147483957" r:id="rId5"/>
    <p:sldLayoutId id="2147483958" r:id="rId6"/>
    <p:sldLayoutId id="2147483959" r:id="rId7"/>
    <p:sldLayoutId id="2147483960" r:id="rId8"/>
    <p:sldLayoutId id="2147483961" r:id="rId9"/>
    <p:sldLayoutId id="2147483962" r:id="rId10"/>
    <p:sldLayoutId id="2147483963" r:id="rId11"/>
    <p:sldLayoutId id="2147483964" r:id="rId12"/>
    <p:sldLayoutId id="2147483965" r:id="rId13"/>
    <p:sldLayoutId id="2147483966" r:id="rId14"/>
    <p:sldLayoutId id="2147483967" r:id="rId15"/>
    <p:sldLayoutId id="2147483968" r:id="rId16"/>
    <p:sldLayoutId id="214748396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9440" y="619760"/>
            <a:ext cx="10962640" cy="1666239"/>
          </a:xfrm>
          <a:solidFill>
            <a:srgbClr val="7A2D26">
              <a:alpha val="25098"/>
            </a:srgbClr>
          </a:solidFill>
        </p:spPr>
        <p:txBody>
          <a:bodyPr/>
          <a:lstStyle/>
          <a:p>
            <a:r>
              <a:rPr lang="en-US" b="1" dirty="0" smtClean="0">
                <a:latin typeface="Times New Roman" panose="02020603050405020304" pitchFamily="18" charset="0"/>
                <a:cs typeface="Times New Roman" panose="02020603050405020304" pitchFamily="18" charset="0"/>
              </a:rPr>
              <a:t>Introduction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29920" y="2285999"/>
            <a:ext cx="10932160" cy="3952241"/>
          </a:xfrm>
          <a:solidFill>
            <a:schemeClr val="accent6">
              <a:lumMod val="60000"/>
              <a:lumOff val="40000"/>
            </a:schemeClr>
          </a:solidFill>
        </p:spPr>
        <p:txBody>
          <a:bodyPr/>
          <a:lstStyle/>
          <a:p>
            <a:pPr marL="0" indent="0" algn="ctr">
              <a:lnSpc>
                <a:spcPct val="200000"/>
              </a:lnSpc>
              <a:buNone/>
            </a:pPr>
            <a:r>
              <a:rPr lang="en-US" dirty="0" smtClean="0">
                <a:latin typeface="Times New Roman" panose="02020603050405020304" pitchFamily="18" charset="0"/>
                <a:cs typeface="Times New Roman" panose="02020603050405020304" pitchFamily="18" charset="0"/>
              </a:rPr>
              <a:t>My Name is : </a:t>
            </a:r>
            <a:r>
              <a:rPr lang="en-US" dirty="0" err="1" smtClean="0">
                <a:latin typeface="Times New Roman" panose="02020603050405020304" pitchFamily="18" charset="0"/>
                <a:cs typeface="Times New Roman" panose="02020603050405020304" pitchFamily="18" charset="0"/>
              </a:rPr>
              <a:t>Imtiaz</a:t>
            </a:r>
            <a:r>
              <a:rPr lang="en-US" dirty="0" smtClean="0">
                <a:latin typeface="Times New Roman" panose="02020603050405020304" pitchFamily="18" charset="0"/>
                <a:cs typeface="Times New Roman" panose="02020603050405020304" pitchFamily="18" charset="0"/>
              </a:rPr>
              <a:t> Ali </a:t>
            </a:r>
          </a:p>
          <a:p>
            <a:pPr marL="0" indent="0" algn="ctr">
              <a:lnSpc>
                <a:spcPct val="200000"/>
              </a:lnSpc>
              <a:buNone/>
            </a:pPr>
            <a:r>
              <a:rPr lang="en-US" dirty="0" smtClean="0">
                <a:latin typeface="Times New Roman" panose="02020603050405020304" pitchFamily="18" charset="0"/>
                <a:cs typeface="Times New Roman" panose="02020603050405020304" pitchFamily="18" charset="0"/>
              </a:rPr>
              <a:t>Current Semester 5 Afternoon</a:t>
            </a:r>
          </a:p>
          <a:p>
            <a:pPr marL="0" indent="0" algn="ctr">
              <a:lnSpc>
                <a:spcPct val="200000"/>
              </a:lnSpc>
              <a:buNone/>
            </a:pPr>
            <a:r>
              <a:rPr lang="en-US" dirty="0" smtClean="0">
                <a:latin typeface="Times New Roman" panose="02020603050405020304" pitchFamily="18" charset="0"/>
                <a:cs typeface="Times New Roman" panose="02020603050405020304" pitchFamily="18" charset="0"/>
              </a:rPr>
              <a:t>Certified (CHFI)</a:t>
            </a:r>
          </a:p>
          <a:p>
            <a:pPr marL="0" indent="0" algn="ctr">
              <a:lnSpc>
                <a:spcPct val="200000"/>
              </a:lnSpc>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00730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760" y="629920"/>
            <a:ext cx="10962640" cy="1290320"/>
          </a:xfrm>
          <a:solidFill>
            <a:schemeClr val="accent4">
              <a:lumMod val="75000"/>
              <a:alpha val="25000"/>
            </a:schemeClr>
          </a:solidFill>
        </p:spPr>
        <p:txBody>
          <a:bodyPr/>
          <a:lstStyle/>
          <a:p>
            <a:r>
              <a:rPr lang="en-US" dirty="0" smtClean="0">
                <a:latin typeface="Times New Roman" panose="02020603050405020304" pitchFamily="18" charset="0"/>
                <a:cs typeface="Times New Roman" panose="02020603050405020304" pitchFamily="18" charset="0"/>
              </a:rPr>
              <a:t>Project Overview</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19760" y="1828801"/>
            <a:ext cx="10962640" cy="4409439"/>
          </a:xfrm>
          <a:solidFill>
            <a:schemeClr val="accent6">
              <a:lumMod val="60000"/>
              <a:lumOff val="40000"/>
            </a:schemeClr>
          </a:solidFill>
        </p:spPr>
        <p:txBody>
          <a:bodyPr/>
          <a:lstStyle/>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Hostel Management System (HMS) digitalizes and automates</a:t>
            </a:r>
          </a:p>
          <a:p>
            <a:pPr marL="0" lvl="0" indent="0">
              <a:buClr>
                <a:schemeClr val="accent4">
                  <a:lumMod val="75000"/>
                </a:schemeClr>
              </a:buClr>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hostel </a:t>
            </a:r>
            <a:r>
              <a:rPr lang="en-US" dirty="0">
                <a:latin typeface="Times New Roman" panose="02020603050405020304" pitchFamily="18" charset="0"/>
                <a:cs typeface="Times New Roman" panose="02020603050405020304" pitchFamily="18" charset="0"/>
              </a:rPr>
              <a:t>operations</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Manages registration, room allocation, </a:t>
            </a:r>
          </a:p>
          <a:p>
            <a:pPr marL="0" lvl="0" indent="0">
              <a:buClr>
                <a:schemeClr val="accent4">
                  <a:lumMod val="75000"/>
                </a:schemeClr>
              </a:buClr>
              <a:buNone/>
            </a:pPr>
            <a:r>
              <a:rPr lang="en-US" dirty="0" smtClean="0">
                <a:latin typeface="Times New Roman" panose="02020603050405020304" pitchFamily="18" charset="0"/>
                <a:cs typeface="Times New Roman" panose="02020603050405020304" pitchFamily="18" charset="0"/>
              </a:rPr>
              <a:t>    fees</a:t>
            </a:r>
            <a:r>
              <a:rPr lang="en-US" dirty="0">
                <a:latin typeface="Times New Roman" panose="02020603050405020304" pitchFamily="18" charset="0"/>
                <a:cs typeface="Times New Roman" panose="02020603050405020304" pitchFamily="18" charset="0"/>
              </a:rPr>
              <a:t>, complaints, inspections, food notifications, and reports</a:t>
            </a:r>
          </a:p>
          <a:p>
            <a:pPr lvl="0">
              <a:buClr>
                <a:schemeClr val="accent4">
                  <a:lumMod val="75000"/>
                </a:schemeClr>
              </a:buClr>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Goals</a:t>
            </a:r>
            <a:r>
              <a:rPr lang="en-US" dirty="0">
                <a:latin typeface="Times New Roman" panose="02020603050405020304" pitchFamily="18" charset="0"/>
                <a:cs typeface="Times New Roman" panose="02020603050405020304" pitchFamily="18" charset="0"/>
              </a:rPr>
              <a:t>: Reduce manual work, improve accuracy</a:t>
            </a:r>
          </a:p>
          <a:p>
            <a:pPr marL="0" lvl="0" indent="0">
              <a:buClr>
                <a:schemeClr val="accent4">
                  <a:lumMod val="75000"/>
                </a:schemeClr>
              </a:buClr>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and </a:t>
            </a:r>
            <a:r>
              <a:rPr lang="en-US" dirty="0">
                <a:latin typeface="Times New Roman" panose="02020603050405020304" pitchFamily="18" charset="0"/>
                <a:cs typeface="Times New Roman" panose="02020603050405020304" pitchFamily="18" charset="0"/>
              </a:rPr>
              <a:t>security, increase convenience</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5236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9440" y="609600"/>
            <a:ext cx="10972800" cy="1798320"/>
          </a:xfrm>
          <a:solidFill>
            <a:schemeClr val="accent4">
              <a:lumMod val="75000"/>
              <a:alpha val="25000"/>
            </a:schemeClr>
          </a:solidFill>
        </p:spPr>
        <p:txBody>
          <a:bodyPr/>
          <a:lstStyle/>
          <a:p>
            <a:r>
              <a:rPr lang="en-US" b="1" dirty="0">
                <a:latin typeface="Times New Roman" panose="02020603050405020304" pitchFamily="18" charset="0"/>
                <a:cs typeface="Times New Roman" panose="02020603050405020304" pitchFamily="18" charset="0"/>
              </a:rPr>
              <a:t>System Introduction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29920" y="2336800"/>
            <a:ext cx="10942320" cy="3911600"/>
          </a:xfrm>
          <a:solidFill>
            <a:schemeClr val="accent6">
              <a:lumMod val="60000"/>
              <a:lumOff val="40000"/>
            </a:schemeClr>
          </a:solidFill>
        </p:spPr>
        <p:txBody>
          <a:bodyPr/>
          <a:lstStyle/>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Manages activities for students, staff, admin, CEO</a:t>
            </a:r>
          </a:p>
          <a:p>
            <a:pPr lvl="0">
              <a:buClr>
                <a:schemeClr val="accent4">
                  <a:lumMod val="75000"/>
                </a:schemeClr>
              </a:buClr>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Students</a:t>
            </a:r>
            <a:r>
              <a:rPr lang="en-US" dirty="0">
                <a:latin typeface="Times New Roman" panose="02020603050405020304" pitchFamily="18" charset="0"/>
                <a:cs typeface="Times New Roman" panose="02020603050405020304" pitchFamily="18" charset="0"/>
              </a:rPr>
              <a:t>: Register, upload fees, request room changes, submit complaints</a:t>
            </a:r>
          </a:p>
          <a:p>
            <a:pPr lvl="0">
              <a:buClr>
                <a:schemeClr val="accent4">
                  <a:lumMod val="75000"/>
                </a:schemeClr>
              </a:buClr>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Admin</a:t>
            </a:r>
            <a:r>
              <a:rPr lang="en-US" dirty="0">
                <a:latin typeface="Times New Roman" panose="02020603050405020304" pitchFamily="18" charset="0"/>
                <a:cs typeface="Times New Roman" panose="02020603050405020304" pitchFamily="18" charset="0"/>
              </a:rPr>
              <a:t>: Records, room allocation, payments, inspections, mess, reporting</a:t>
            </a:r>
          </a:p>
          <a:p>
            <a:pPr lvl="0">
              <a:buClr>
                <a:schemeClr val="accent4">
                  <a:lumMod val="75000"/>
                </a:schemeClr>
              </a:buClr>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Staff</a:t>
            </a:r>
            <a:r>
              <a:rPr lang="en-US" dirty="0">
                <a:latin typeface="Times New Roman" panose="02020603050405020304" pitchFamily="18" charset="0"/>
                <a:cs typeface="Times New Roman" panose="02020603050405020304" pitchFamily="18" charset="0"/>
              </a:rPr>
              <a:t>: Food service and notifications</a:t>
            </a:r>
          </a:p>
          <a:p>
            <a:pPr lvl="0">
              <a:buClr>
                <a:schemeClr val="accent4">
                  <a:lumMod val="75000"/>
                </a:schemeClr>
              </a:buClr>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CEO</a:t>
            </a:r>
            <a:r>
              <a:rPr lang="en-US" dirty="0">
                <a:latin typeface="Times New Roman" panose="02020603050405020304" pitchFamily="18" charset="0"/>
                <a:cs typeface="Times New Roman" panose="02020603050405020304" pitchFamily="18" charset="0"/>
              </a:rPr>
              <a:t>: Reviews reports, oversees performance</a:t>
            </a:r>
          </a:p>
        </p:txBody>
      </p:sp>
    </p:spTree>
    <p:extLst>
      <p:ext uri="{BB962C8B-B14F-4D97-AF65-F5344CB8AC3E}">
        <p14:creationId xmlns:p14="http://schemas.microsoft.com/office/powerpoint/2010/main" val="5622473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29920"/>
            <a:ext cx="10962640" cy="1727200"/>
          </a:xfrm>
          <a:solidFill>
            <a:schemeClr val="accent4">
              <a:lumMod val="75000"/>
              <a:alpha val="25000"/>
            </a:schemeClr>
          </a:solidFill>
        </p:spPr>
        <p:txBody>
          <a:bodyPr>
            <a:normAutofit/>
          </a:bodyPr>
          <a:lstStyle/>
          <a:p>
            <a:r>
              <a:rPr lang="en-US" b="1" dirty="0">
                <a:latin typeface="Times New Roman" panose="02020603050405020304" pitchFamily="18" charset="0"/>
                <a:cs typeface="Times New Roman" panose="02020603050405020304" pitchFamily="18" charset="0"/>
              </a:rPr>
              <a:t>System-Level Functional Requirements</a:t>
            </a:r>
          </a:p>
        </p:txBody>
      </p:sp>
      <p:sp>
        <p:nvSpPr>
          <p:cNvPr id="3" name="Content Placeholder 2"/>
          <p:cNvSpPr>
            <a:spLocks noGrp="1"/>
          </p:cNvSpPr>
          <p:nvPr>
            <p:ph idx="1"/>
          </p:nvPr>
        </p:nvSpPr>
        <p:spPr>
          <a:xfrm>
            <a:off x="609600" y="2357120"/>
            <a:ext cx="10962640" cy="3870960"/>
          </a:xfrm>
          <a:solidFill>
            <a:schemeClr val="accent6">
              <a:lumMod val="60000"/>
              <a:lumOff val="40000"/>
            </a:schemeClr>
          </a:solidFill>
        </p:spPr>
        <p:txBody>
          <a:bodyPr/>
          <a:lstStyle/>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Automatic late fee alerts</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Tracks seat availability and inventory</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Monthly reminders for electrical inspections</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24/7 CCTV monitoring</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Meal notifications via mobile app</a:t>
            </a:r>
          </a:p>
        </p:txBody>
      </p:sp>
    </p:spTree>
    <p:extLst>
      <p:ext uri="{BB962C8B-B14F-4D97-AF65-F5344CB8AC3E}">
        <p14:creationId xmlns:p14="http://schemas.microsoft.com/office/powerpoint/2010/main" val="20113433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19760"/>
            <a:ext cx="10952480" cy="1737360"/>
          </a:xfrm>
          <a:solidFill>
            <a:schemeClr val="accent4">
              <a:lumMod val="75000"/>
              <a:alpha val="25000"/>
            </a:schemeClr>
          </a:solidFill>
        </p:spPr>
        <p:txBody>
          <a:bodyPr>
            <a:normAutofit/>
          </a:bodyPr>
          <a:lstStyle/>
          <a:p>
            <a:r>
              <a:rPr lang="en-US" b="1" dirty="0">
                <a:latin typeface="Times New Roman" panose="02020603050405020304" pitchFamily="18" charset="0"/>
                <a:cs typeface="Times New Roman" panose="02020603050405020304" pitchFamily="18" charset="0"/>
              </a:rPr>
              <a:t>Key Actors</a:t>
            </a:r>
          </a:p>
        </p:txBody>
      </p:sp>
      <p:sp>
        <p:nvSpPr>
          <p:cNvPr id="3" name="Content Placeholder 2"/>
          <p:cNvSpPr>
            <a:spLocks noGrp="1"/>
          </p:cNvSpPr>
          <p:nvPr>
            <p:ph idx="1"/>
          </p:nvPr>
        </p:nvSpPr>
        <p:spPr>
          <a:xfrm>
            <a:off x="609600" y="2357120"/>
            <a:ext cx="10952480" cy="3870960"/>
          </a:xfrm>
          <a:solidFill>
            <a:schemeClr val="accent6">
              <a:lumMod val="60000"/>
              <a:lumOff val="40000"/>
            </a:schemeClr>
          </a:solidFill>
        </p:spPr>
        <p:txBody>
          <a:bodyPr/>
          <a:lstStyle/>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Admin</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Student</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Staff</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CEO</a:t>
            </a:r>
          </a:p>
          <a:p>
            <a:pPr>
              <a:buClr>
                <a:schemeClr val="accent4">
                  <a:lumMod val="75000"/>
                </a:schemeClr>
              </a:buCl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43791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609600"/>
            <a:ext cx="10932160" cy="1798320"/>
          </a:xfrm>
          <a:solidFill>
            <a:schemeClr val="accent4">
              <a:lumMod val="75000"/>
              <a:alpha val="25000"/>
            </a:schemeClr>
          </a:solidFill>
        </p:spPr>
        <p:txBody>
          <a:bodyPr>
            <a:normAutofit/>
          </a:bodyPr>
          <a:lstStyle/>
          <a:p>
            <a:r>
              <a:rPr lang="en-US" b="1" dirty="0">
                <a:latin typeface="Times New Roman" panose="02020603050405020304" pitchFamily="18" charset="0"/>
                <a:cs typeface="Times New Roman" panose="02020603050405020304" pitchFamily="18" charset="0"/>
              </a:rPr>
              <a:t>Admin Functionalities</a:t>
            </a:r>
          </a:p>
        </p:txBody>
      </p:sp>
      <p:sp>
        <p:nvSpPr>
          <p:cNvPr id="3" name="Content Placeholder 2"/>
          <p:cNvSpPr>
            <a:spLocks noGrp="1"/>
          </p:cNvSpPr>
          <p:nvPr>
            <p:ph idx="1"/>
          </p:nvPr>
        </p:nvSpPr>
        <p:spPr>
          <a:xfrm>
            <a:off x="619760" y="2407920"/>
            <a:ext cx="10952480" cy="3820160"/>
          </a:xfrm>
          <a:solidFill>
            <a:schemeClr val="accent6">
              <a:lumMod val="60000"/>
              <a:lumOff val="40000"/>
            </a:schemeClr>
          </a:solidFill>
        </p:spPr>
        <p:txBody>
          <a:bodyPr/>
          <a:lstStyle/>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Register students, allocate rooms, update payments</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Manage inspections and mess/food</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Review complaints</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Send monthly report to CEO</a:t>
            </a:r>
          </a:p>
        </p:txBody>
      </p:sp>
    </p:spTree>
    <p:extLst>
      <p:ext uri="{BB962C8B-B14F-4D97-AF65-F5344CB8AC3E}">
        <p14:creationId xmlns:p14="http://schemas.microsoft.com/office/powerpoint/2010/main" val="26066330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760" y="609600"/>
            <a:ext cx="10952480" cy="1757680"/>
          </a:xfrm>
          <a:solidFill>
            <a:schemeClr val="accent4">
              <a:lumMod val="75000"/>
              <a:alpha val="25000"/>
            </a:schemeClr>
          </a:solidFill>
        </p:spPr>
        <p:txBody>
          <a:bodyPr>
            <a:normAutofit/>
          </a:bodyPr>
          <a:lstStyle/>
          <a:p>
            <a:r>
              <a:rPr lang="en-US" b="1" dirty="0">
                <a:latin typeface="Times New Roman" panose="02020603050405020304" pitchFamily="18" charset="0"/>
                <a:cs typeface="Times New Roman" panose="02020603050405020304" pitchFamily="18" charset="0"/>
              </a:rPr>
              <a:t>Student Functionalities</a:t>
            </a:r>
          </a:p>
        </p:txBody>
      </p:sp>
      <p:sp>
        <p:nvSpPr>
          <p:cNvPr id="3" name="Content Placeholder 2"/>
          <p:cNvSpPr>
            <a:spLocks noGrp="1"/>
          </p:cNvSpPr>
          <p:nvPr>
            <p:ph idx="1"/>
          </p:nvPr>
        </p:nvSpPr>
        <p:spPr>
          <a:xfrm>
            <a:off x="619760" y="2367280"/>
            <a:ext cx="10952480" cy="3870960"/>
          </a:xfrm>
          <a:solidFill>
            <a:schemeClr val="accent6">
              <a:lumMod val="60000"/>
              <a:lumOff val="40000"/>
            </a:schemeClr>
          </a:solidFill>
        </p:spPr>
        <p:txBody>
          <a:bodyPr/>
          <a:lstStyle/>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Register profile via app</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Upload fee challan</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Cancel seat, change room</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Submit complaints, mark attendance, give feedback</a:t>
            </a:r>
          </a:p>
        </p:txBody>
      </p:sp>
    </p:spTree>
    <p:extLst>
      <p:ext uri="{BB962C8B-B14F-4D97-AF65-F5344CB8AC3E}">
        <p14:creationId xmlns:p14="http://schemas.microsoft.com/office/powerpoint/2010/main" val="42271894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760" y="619760"/>
            <a:ext cx="10952480" cy="1767840"/>
          </a:xfrm>
          <a:solidFill>
            <a:schemeClr val="accent4">
              <a:lumMod val="75000"/>
              <a:alpha val="25000"/>
            </a:schemeClr>
          </a:solidFill>
        </p:spPr>
        <p:txBody>
          <a:bodyPr/>
          <a:lstStyle/>
          <a:p>
            <a:r>
              <a:rPr lang="en-US" b="1" dirty="0" smtClean="0"/>
              <a:t> </a:t>
            </a:r>
            <a:r>
              <a:rPr lang="en-US" b="1" dirty="0">
                <a:latin typeface="Times New Roman" panose="02020603050405020304" pitchFamily="18" charset="0"/>
                <a:cs typeface="Times New Roman" panose="02020603050405020304" pitchFamily="18" charset="0"/>
              </a:rPr>
              <a:t>Staff Functionalities</a:t>
            </a:r>
          </a:p>
        </p:txBody>
      </p:sp>
      <p:sp>
        <p:nvSpPr>
          <p:cNvPr id="3" name="Content Placeholder 2"/>
          <p:cNvSpPr>
            <a:spLocks noGrp="1"/>
          </p:cNvSpPr>
          <p:nvPr>
            <p:ph idx="1"/>
          </p:nvPr>
        </p:nvSpPr>
        <p:spPr>
          <a:xfrm>
            <a:off x="619760" y="2387600"/>
            <a:ext cx="10952480" cy="3860800"/>
          </a:xfrm>
          <a:solidFill>
            <a:schemeClr val="accent6">
              <a:lumMod val="60000"/>
              <a:lumOff val="40000"/>
            </a:schemeClr>
          </a:solidFill>
        </p:spPr>
        <p:txBody>
          <a:bodyPr/>
          <a:lstStyle/>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Request and update food </a:t>
            </a:r>
            <a:r>
              <a:rPr lang="en-US" dirty="0" smtClean="0">
                <a:latin typeface="Times New Roman" panose="02020603050405020304" pitchFamily="18" charset="0"/>
                <a:cs typeface="Times New Roman" panose="02020603050405020304" pitchFamily="18" charset="0"/>
              </a:rPr>
              <a:t>items</a:t>
            </a:r>
          </a:p>
          <a:p>
            <a:pPr marL="0" lvl="0" indent="0">
              <a:buClr>
                <a:schemeClr val="accent4">
                  <a:lumMod val="75000"/>
                </a:schemeClr>
              </a:buClr>
              <a:buNone/>
            </a:pPr>
            <a:endParaRPr lang="en-US" dirty="0">
              <a:latin typeface="Times New Roman" panose="02020603050405020304" pitchFamily="18" charset="0"/>
              <a:cs typeface="Times New Roman" panose="02020603050405020304" pitchFamily="18" charset="0"/>
            </a:endParaRP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Send meal </a:t>
            </a:r>
            <a:r>
              <a:rPr lang="en-US" dirty="0" smtClean="0">
                <a:latin typeface="Times New Roman" panose="02020603050405020304" pitchFamily="18" charset="0"/>
                <a:cs typeface="Times New Roman" panose="02020603050405020304" pitchFamily="18" charset="0"/>
              </a:rPr>
              <a:t>notifications</a:t>
            </a:r>
          </a:p>
          <a:p>
            <a:pPr>
              <a:buClr>
                <a:schemeClr val="accent4">
                  <a:lumMod val="75000"/>
                </a:schemeClr>
              </a:buCl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83070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760" y="589280"/>
            <a:ext cx="10952480" cy="1808480"/>
          </a:xfrm>
          <a:solidFill>
            <a:schemeClr val="accent4">
              <a:lumMod val="75000"/>
              <a:alpha val="25000"/>
            </a:schemeClr>
          </a:solidFill>
        </p:spPr>
        <p:txBody>
          <a:bodyPr>
            <a:normAutofit/>
          </a:bodyPr>
          <a:lstStyle/>
          <a:p>
            <a:r>
              <a:rPr lang="en-US" b="1" dirty="0">
                <a:latin typeface="Times New Roman" panose="02020603050405020304" pitchFamily="18" charset="0"/>
                <a:cs typeface="Times New Roman" panose="02020603050405020304" pitchFamily="18" charset="0"/>
              </a:rPr>
              <a:t>CEO Functionalities</a:t>
            </a:r>
          </a:p>
        </p:txBody>
      </p:sp>
      <p:sp>
        <p:nvSpPr>
          <p:cNvPr id="3" name="Content Placeholder 2"/>
          <p:cNvSpPr>
            <a:spLocks noGrp="1"/>
          </p:cNvSpPr>
          <p:nvPr>
            <p:ph idx="1"/>
          </p:nvPr>
        </p:nvSpPr>
        <p:spPr>
          <a:xfrm>
            <a:off x="619760" y="2397760"/>
            <a:ext cx="10952480" cy="3860800"/>
          </a:xfrm>
          <a:solidFill>
            <a:schemeClr val="accent6">
              <a:lumMod val="60000"/>
              <a:lumOff val="40000"/>
            </a:schemeClr>
          </a:solidFill>
        </p:spPr>
        <p:txBody>
          <a:bodyPr/>
          <a:lstStyle/>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Review monthly </a:t>
            </a:r>
            <a:r>
              <a:rPr lang="en-US" dirty="0" smtClean="0">
                <a:latin typeface="Times New Roman" panose="02020603050405020304" pitchFamily="18" charset="0"/>
                <a:cs typeface="Times New Roman" panose="02020603050405020304" pitchFamily="18" charset="0"/>
              </a:rPr>
              <a:t>reports</a:t>
            </a:r>
          </a:p>
          <a:p>
            <a:pPr lvl="0">
              <a:buClr>
                <a:schemeClr val="accent4">
                  <a:lumMod val="75000"/>
                </a:schemeClr>
              </a:buCl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Check complaints </a:t>
            </a:r>
            <a:r>
              <a:rPr lang="en-US" dirty="0" smtClean="0">
                <a:latin typeface="Times New Roman" panose="02020603050405020304" pitchFamily="18" charset="0"/>
                <a:cs typeface="Times New Roman" panose="02020603050405020304" pitchFamily="18" charset="0"/>
              </a:rPr>
              <a:t>summary</a:t>
            </a:r>
          </a:p>
          <a:p>
            <a:pPr lvl="0">
              <a:buClr>
                <a:schemeClr val="accent4">
                  <a:lumMod val="75000"/>
                </a:schemeClr>
              </a:buCl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Approve stock payments</a:t>
            </a:r>
          </a:p>
        </p:txBody>
      </p:sp>
    </p:spTree>
    <p:extLst>
      <p:ext uri="{BB962C8B-B14F-4D97-AF65-F5344CB8AC3E}">
        <p14:creationId xmlns:p14="http://schemas.microsoft.com/office/powerpoint/2010/main" val="33692181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760" y="599440"/>
            <a:ext cx="10952480" cy="1778000"/>
          </a:xfrm>
          <a:solidFill>
            <a:schemeClr val="accent4">
              <a:lumMod val="75000"/>
              <a:alpha val="25000"/>
            </a:schemeClr>
          </a:solidFill>
        </p:spPr>
        <p:txBody>
          <a:bodyPr>
            <a:normAutofit/>
          </a:bodyPr>
          <a:lstStyle/>
          <a:p>
            <a:r>
              <a:rPr lang="en-US" b="1" dirty="0">
                <a:latin typeface="Times New Roman" panose="02020603050405020304" pitchFamily="18" charset="0"/>
                <a:cs typeface="Times New Roman" panose="02020603050405020304" pitchFamily="18" charset="0"/>
              </a:rPr>
              <a:t>Actor → Use Case Mapping</a:t>
            </a:r>
          </a:p>
        </p:txBody>
      </p:sp>
      <p:sp>
        <p:nvSpPr>
          <p:cNvPr id="3" name="Content Placeholder 2"/>
          <p:cNvSpPr>
            <a:spLocks noGrp="1"/>
          </p:cNvSpPr>
          <p:nvPr>
            <p:ph idx="1"/>
          </p:nvPr>
        </p:nvSpPr>
        <p:spPr>
          <a:xfrm>
            <a:off x="619760" y="2377440"/>
            <a:ext cx="10952480" cy="3860800"/>
          </a:xfrm>
          <a:solidFill>
            <a:schemeClr val="accent6">
              <a:lumMod val="60000"/>
              <a:lumOff val="40000"/>
            </a:schemeClr>
          </a:solidFill>
        </p:spPr>
        <p:txBody>
          <a:bodyPr/>
          <a:lstStyle/>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Admin: registration, room allocation, payments, inspections, mess, complaints, reports</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Student: registration, fee upload, cancel seat, complaints, room changes, attendance, feedback, meal alerts</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Staff: food requests, updates, notifications</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CEO: view reports/complaints, approve payments</a:t>
            </a:r>
          </a:p>
        </p:txBody>
      </p:sp>
    </p:spTree>
    <p:extLst>
      <p:ext uri="{BB962C8B-B14F-4D97-AF65-F5344CB8AC3E}">
        <p14:creationId xmlns:p14="http://schemas.microsoft.com/office/powerpoint/2010/main" val="7496630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920" y="619761"/>
            <a:ext cx="10932160" cy="1797684"/>
          </a:xfrm>
          <a:solidFill>
            <a:srgbClr val="7A2D26">
              <a:alpha val="25098"/>
            </a:srgbClr>
          </a:solidFill>
        </p:spPr>
        <p:txBody>
          <a:bodyPr/>
          <a:lstStyle/>
          <a:p>
            <a:r>
              <a:rPr lang="en-US" b="1" dirty="0">
                <a:latin typeface="Times New Roman" panose="02020603050405020304" pitchFamily="18" charset="0"/>
                <a:cs typeface="Times New Roman" panose="02020603050405020304" pitchFamily="18" charset="0"/>
              </a:rPr>
              <a:t>Hostel Management System </a:t>
            </a:r>
            <a:r>
              <a:rPr lang="en-US" b="1" dirty="0" smtClean="0">
                <a:latin typeface="Times New Roman" panose="02020603050405020304" pitchFamily="18" charset="0"/>
                <a:cs typeface="Times New Roman" panose="02020603050405020304" pitchFamily="18" charset="0"/>
              </a:rPr>
              <a:t>Use Case Diagram</a:t>
            </a:r>
            <a:endParaRPr lang="en-US"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596440" y="2417445"/>
            <a:ext cx="5405319" cy="3841750"/>
          </a:xfrm>
          <a:solidFill>
            <a:schemeClr val="accent6">
              <a:lumMod val="60000"/>
              <a:lumOff val="40000"/>
            </a:schemeClr>
          </a:solidFill>
        </p:spPr>
      </p:pic>
    </p:spTree>
    <p:extLst>
      <p:ext uri="{BB962C8B-B14F-4D97-AF65-F5344CB8AC3E}">
        <p14:creationId xmlns:p14="http://schemas.microsoft.com/office/powerpoint/2010/main" val="13025212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99440"/>
            <a:ext cx="10962640" cy="1798320"/>
          </a:xfrm>
          <a:solidFill>
            <a:schemeClr val="accent4">
              <a:lumMod val="75000"/>
              <a:alpha val="25000"/>
            </a:schemeClr>
          </a:solidFill>
        </p:spPr>
        <p:txBody>
          <a:bodyPr>
            <a:normAutofit/>
          </a:bodyPr>
          <a:lstStyle/>
          <a:p>
            <a:r>
              <a:rPr lang="en-US" b="1" dirty="0">
                <a:latin typeface="Times New Roman" panose="02020603050405020304" pitchFamily="18" charset="0"/>
                <a:cs typeface="Times New Roman" panose="02020603050405020304" pitchFamily="18" charset="0"/>
              </a:rPr>
              <a:t>Automated System Functions</a:t>
            </a:r>
          </a:p>
        </p:txBody>
      </p:sp>
      <p:sp>
        <p:nvSpPr>
          <p:cNvPr id="3" name="Content Placeholder 2"/>
          <p:cNvSpPr>
            <a:spLocks noGrp="1"/>
          </p:cNvSpPr>
          <p:nvPr>
            <p:ph idx="1"/>
          </p:nvPr>
        </p:nvSpPr>
        <p:spPr>
          <a:xfrm>
            <a:off x="609600" y="2397760"/>
            <a:ext cx="10962640" cy="3830320"/>
          </a:xfrm>
          <a:solidFill>
            <a:schemeClr val="accent6">
              <a:lumMod val="60000"/>
              <a:lumOff val="40000"/>
            </a:schemeClr>
          </a:solidFill>
        </p:spPr>
        <p:txBody>
          <a:bodyPr/>
          <a:lstStyle/>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Late fee notifications</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Monthly inspection reminders</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Inventory alerts</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Security monitoring</a:t>
            </a:r>
          </a:p>
        </p:txBody>
      </p:sp>
    </p:spTree>
    <p:extLst>
      <p:ext uri="{BB962C8B-B14F-4D97-AF65-F5344CB8AC3E}">
        <p14:creationId xmlns:p14="http://schemas.microsoft.com/office/powerpoint/2010/main" val="5837969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760" y="609600"/>
            <a:ext cx="10952480" cy="1767840"/>
          </a:xfrm>
          <a:solidFill>
            <a:schemeClr val="accent4">
              <a:lumMod val="75000"/>
              <a:alpha val="25000"/>
            </a:schemeClr>
          </a:solidFill>
        </p:spPr>
        <p:txBody>
          <a:bodyPr>
            <a:normAutofit/>
          </a:bodyPr>
          <a:lstStyle/>
          <a:p>
            <a:r>
              <a:rPr lang="en-US" b="1" dirty="0">
                <a:latin typeface="Times New Roman" panose="02020603050405020304" pitchFamily="18" charset="0"/>
                <a:cs typeface="Times New Roman" panose="02020603050405020304" pitchFamily="18" charset="0"/>
              </a:rPr>
              <a:t>Object Diagram (Samples &amp; Associations)</a:t>
            </a:r>
          </a:p>
        </p:txBody>
      </p:sp>
      <p:sp>
        <p:nvSpPr>
          <p:cNvPr id="3" name="Content Placeholder 2"/>
          <p:cNvSpPr>
            <a:spLocks noGrp="1"/>
          </p:cNvSpPr>
          <p:nvPr>
            <p:ph idx="1"/>
          </p:nvPr>
        </p:nvSpPr>
        <p:spPr>
          <a:xfrm>
            <a:off x="619760" y="2377440"/>
            <a:ext cx="10952480" cy="3850640"/>
          </a:xfrm>
          <a:solidFill>
            <a:schemeClr val="accent6">
              <a:lumMod val="60000"/>
              <a:lumOff val="40000"/>
            </a:schemeClr>
          </a:solidFill>
        </p:spPr>
        <p:txBody>
          <a:bodyPr>
            <a:normAutofit/>
          </a:bodyPr>
          <a:lstStyle/>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Students (Name, ID, Room, Fee Status)</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Rooms (Number, Capacity, Status)</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Payments (Amount, Month, Status)</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Complaints (Description, Status)</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Admin/Staff (Name, ID, Duties)</a:t>
            </a:r>
          </a:p>
          <a:p>
            <a:pPr lvl="0">
              <a:buClr>
                <a:schemeClr val="accent4">
                  <a:lumMod val="75000"/>
                </a:schemeClr>
              </a:buClr>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Associations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Student↔Room</a:t>
            </a:r>
            <a:r>
              <a:rPr lang="en-US" dirty="0">
                <a:latin typeface="Times New Roman" panose="02020603050405020304" pitchFamily="18" charset="0"/>
                <a:cs typeface="Times New Roman" panose="02020603050405020304" pitchFamily="18" charset="0"/>
              </a:rPr>
              <a:t>/Payments/Complaints, </a:t>
            </a:r>
            <a:r>
              <a:rPr lang="en-US" dirty="0" err="1">
                <a:latin typeface="Times New Roman" panose="02020603050405020304" pitchFamily="18" charset="0"/>
                <a:cs typeface="Times New Roman" panose="02020603050405020304" pitchFamily="18" charset="0"/>
              </a:rPr>
              <a:t>Admin↔Complaints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Staff↔Rooms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75157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8960" y="619760"/>
            <a:ext cx="11023600" cy="1696720"/>
          </a:xfrm>
          <a:solidFill>
            <a:schemeClr val="accent4">
              <a:lumMod val="75000"/>
              <a:alpha val="25098"/>
            </a:schemeClr>
          </a:solidFill>
          <a:ln>
            <a:solidFill>
              <a:schemeClr val="accent4">
                <a:lumMod val="75000"/>
              </a:schemeClr>
            </a:solidFill>
          </a:ln>
        </p:spPr>
        <p:txBody>
          <a:bodyPr/>
          <a:lstStyle/>
          <a:p>
            <a:r>
              <a:rPr lang="en-US" b="1" dirty="0">
                <a:latin typeface="Times New Roman" panose="02020603050405020304" pitchFamily="18" charset="0"/>
                <a:cs typeface="Times New Roman" panose="02020603050405020304" pitchFamily="18" charset="0"/>
              </a:rPr>
              <a:t>Object Diagram OF Hostel Management System</a:t>
            </a:r>
            <a:endParaRPr lang="en-US" dirty="0">
              <a:latin typeface="Times New Roman" panose="02020603050405020304" pitchFamily="18" charset="0"/>
              <a:cs typeface="Times New Roman" panose="02020603050405020304" pitchFamily="18" charset="0"/>
            </a:endParaRPr>
          </a:p>
        </p:txBody>
      </p:sp>
      <p:pic>
        <p:nvPicPr>
          <p:cNvPr id="4" name="Content Placeholder 3"/>
          <p:cNvPicPr>
            <a:picLocks noGrp="1"/>
          </p:cNvPicPr>
          <p:nvPr>
            <p:ph idx="1"/>
          </p:nvPr>
        </p:nvPicPr>
        <p:blipFill>
          <a:blip r:embed="rId3"/>
          <a:stretch>
            <a:fillRect/>
          </a:stretch>
        </p:blipFill>
        <p:spPr>
          <a:xfrm>
            <a:off x="568960" y="2316480"/>
            <a:ext cx="10952480" cy="3901440"/>
          </a:xfrm>
          <a:prstGeom prst="rect">
            <a:avLst/>
          </a:prstGeom>
        </p:spPr>
      </p:pic>
    </p:spTree>
    <p:extLst>
      <p:ext uri="{BB962C8B-B14F-4D97-AF65-F5344CB8AC3E}">
        <p14:creationId xmlns:p14="http://schemas.microsoft.com/office/powerpoint/2010/main" val="9450488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920" y="619760"/>
            <a:ext cx="10942319" cy="1757680"/>
          </a:xfrm>
          <a:solidFill>
            <a:schemeClr val="accent4">
              <a:lumMod val="75000"/>
              <a:alpha val="25000"/>
            </a:schemeClr>
          </a:solidFill>
        </p:spPr>
        <p:txBody>
          <a:bodyPr>
            <a:noAutofit/>
          </a:bodyPr>
          <a:lstStyle/>
          <a:p>
            <a:r>
              <a:rPr lang="en-US" b="1" dirty="0">
                <a:latin typeface="Times New Roman" panose="02020603050405020304" pitchFamily="18" charset="0"/>
                <a:cs typeface="Times New Roman" panose="02020603050405020304" pitchFamily="18" charset="0"/>
              </a:rPr>
              <a:t>Communication Diagram </a:t>
            </a:r>
            <a:r>
              <a:rPr lang="en-US" b="1" dirty="0" smtClean="0">
                <a:latin typeface="Times New Roman" panose="02020603050405020304" pitchFamily="18" charset="0"/>
                <a:cs typeface="Times New Roman" panose="02020603050405020304" pitchFamily="18" charset="0"/>
              </a:rPr>
              <a:t/>
            </a:r>
            <a:br>
              <a:rPr lang="en-US" b="1" dirty="0" smtClean="0">
                <a:latin typeface="Times New Roman" panose="02020603050405020304" pitchFamily="18" charset="0"/>
                <a:cs typeface="Times New Roman" panose="02020603050405020304" pitchFamily="18" charset="0"/>
              </a:rPr>
            </a:br>
            <a:r>
              <a:rPr lang="en-US" b="1" dirty="0" smtClean="0">
                <a:latin typeface="Times New Roman" panose="02020603050405020304" pitchFamily="18" charset="0"/>
                <a:cs typeface="Times New Roman" panose="02020603050405020304" pitchFamily="18" charset="0"/>
              </a:rPr>
              <a:t>(Complaint Process</a:t>
            </a:r>
            <a:r>
              <a:rPr lang="en-US" b="1" dirty="0">
                <a:latin typeface="Times New Roman" panose="02020603050405020304" pitchFamily="18" charset="0"/>
                <a:cs typeface="Times New Roman" panose="02020603050405020304" pitchFamily="18" charset="0"/>
              </a:rPr>
              <a:t>)</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29920" y="2377440"/>
            <a:ext cx="10942319" cy="3850640"/>
          </a:xfrm>
          <a:solidFill>
            <a:schemeClr val="accent6">
              <a:lumMod val="60000"/>
              <a:lumOff val="40000"/>
            </a:schemeClr>
          </a:solidFill>
        </p:spPr>
        <p:txBody>
          <a:bodyPr/>
          <a:lstStyle/>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Student submits complaint to system</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System alerts admin</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Admin reviews and forwards to staff</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Staff updates complaint status</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System responds to student, summarizes for CEO</a:t>
            </a:r>
          </a:p>
        </p:txBody>
      </p:sp>
    </p:spTree>
    <p:extLst>
      <p:ext uri="{BB962C8B-B14F-4D97-AF65-F5344CB8AC3E}">
        <p14:creationId xmlns:p14="http://schemas.microsoft.com/office/powerpoint/2010/main" val="41017978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920" y="619760"/>
            <a:ext cx="10922000" cy="1666239"/>
          </a:xfrm>
          <a:solidFill>
            <a:srgbClr val="7A2D26">
              <a:alpha val="25098"/>
            </a:srgbClr>
          </a:solidFill>
        </p:spPr>
        <p:txBody>
          <a:bodyPr>
            <a:normAutofit/>
          </a:bodyPr>
          <a:lstStyle/>
          <a:p>
            <a:r>
              <a:rPr lang="en-US" b="1" dirty="0" smtClean="0">
                <a:latin typeface="Times New Roman" panose="02020603050405020304" pitchFamily="18" charset="0"/>
                <a:cs typeface="Times New Roman" panose="02020603050405020304" pitchFamily="18" charset="0"/>
              </a:rPr>
              <a:t>Hostel Management System Communication Diagram (Complaint Handling)</a:t>
            </a:r>
            <a:endParaRPr lang="en-US" dirty="0"/>
          </a:p>
        </p:txBody>
      </p:sp>
      <p:pic>
        <p:nvPicPr>
          <p:cNvPr id="4" name="Content Placeholder 3" descr="D:\5 Semester\BoSS\SCD\Project Work\CommunicationDiagram.drawio.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9920" y="2289969"/>
            <a:ext cx="10922000" cy="3924300"/>
          </a:xfrm>
          <a:prstGeom prst="rect">
            <a:avLst/>
          </a:prstGeom>
          <a:noFill/>
          <a:ln>
            <a:noFill/>
          </a:ln>
        </p:spPr>
      </p:pic>
    </p:spTree>
    <p:extLst>
      <p:ext uri="{BB962C8B-B14F-4D97-AF65-F5344CB8AC3E}">
        <p14:creationId xmlns:p14="http://schemas.microsoft.com/office/powerpoint/2010/main" val="17621488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19760"/>
            <a:ext cx="10972800" cy="1788160"/>
          </a:xfrm>
          <a:solidFill>
            <a:schemeClr val="accent4">
              <a:lumMod val="75000"/>
              <a:alpha val="25000"/>
            </a:schemeClr>
          </a:solidFill>
        </p:spPr>
        <p:txBody>
          <a:bodyPr/>
          <a:lstStyle/>
          <a:p>
            <a:r>
              <a:rPr lang="en-US" b="1" dirty="0">
                <a:latin typeface="Times New Roman" panose="02020603050405020304" pitchFamily="18" charset="0"/>
                <a:cs typeface="Times New Roman" panose="02020603050405020304" pitchFamily="18" charset="0"/>
              </a:rPr>
              <a:t>Timing Diagram (Attendance Process)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2407920"/>
            <a:ext cx="10972800" cy="3860800"/>
          </a:xfrm>
          <a:solidFill>
            <a:schemeClr val="accent6">
              <a:lumMod val="60000"/>
              <a:lumOff val="40000"/>
            </a:schemeClr>
          </a:solidFill>
        </p:spPr>
        <p:txBody>
          <a:bodyPr/>
          <a:lstStyle/>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Student idle → Sends attendance request</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System processes then forwards to admin</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Admin verifies record</a:t>
            </a:r>
          </a:p>
          <a:p>
            <a:pPr lvl="0">
              <a:buClr>
                <a:schemeClr val="accent4">
                  <a:lumMod val="75000"/>
                </a:schemeClr>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Confirmation sent to student</a:t>
            </a:r>
          </a:p>
        </p:txBody>
      </p:sp>
    </p:spTree>
    <p:extLst>
      <p:ext uri="{BB962C8B-B14F-4D97-AF65-F5344CB8AC3E}">
        <p14:creationId xmlns:p14="http://schemas.microsoft.com/office/powerpoint/2010/main" val="36386571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760" y="619760"/>
            <a:ext cx="10932160" cy="1666239"/>
          </a:xfrm>
          <a:solidFill>
            <a:srgbClr val="7A2D26">
              <a:alpha val="25098"/>
            </a:srgbClr>
          </a:solidFill>
        </p:spPr>
        <p:txBody>
          <a:bodyPr>
            <a:normAutofit/>
          </a:bodyPr>
          <a:lstStyle/>
          <a:p>
            <a:r>
              <a:rPr lang="en-US" b="1" dirty="0">
                <a:latin typeface="Times New Roman" panose="02020603050405020304" pitchFamily="18" charset="0"/>
                <a:cs typeface="Times New Roman" panose="02020603050405020304" pitchFamily="18" charset="0"/>
              </a:rPr>
              <a:t>Hostel Management System </a:t>
            </a:r>
            <a:r>
              <a:rPr lang="en-US" b="1" dirty="0" smtClean="0">
                <a:latin typeface="Times New Roman" panose="02020603050405020304" pitchFamily="18" charset="0"/>
                <a:cs typeface="Times New Roman" panose="02020603050405020304" pitchFamily="18" charset="0"/>
              </a:rPr>
              <a:t>Timing </a:t>
            </a:r>
            <a:r>
              <a:rPr lang="en-US" b="1" dirty="0">
                <a:latin typeface="Times New Roman" panose="02020603050405020304" pitchFamily="18" charset="0"/>
                <a:cs typeface="Times New Roman" panose="02020603050405020304" pitchFamily="18" charset="0"/>
              </a:rPr>
              <a:t>Diagram </a:t>
            </a:r>
            <a:r>
              <a:rPr lang="en-US" b="1" dirty="0" smtClean="0">
                <a:latin typeface="Times New Roman" panose="02020603050405020304" pitchFamily="18" charset="0"/>
                <a:cs typeface="Times New Roman" panose="02020603050405020304" pitchFamily="18" charset="0"/>
              </a:rPr>
              <a:t>(Student Attendance)</a:t>
            </a:r>
            <a:endParaRPr lang="en-US" dirty="0"/>
          </a:p>
        </p:txBody>
      </p:sp>
      <p:pic>
        <p:nvPicPr>
          <p:cNvPr id="4" name="Content Placeholder 3" descr="D:\5 Semester\BoSS\SCD\Project Work\TimingDiagram.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9760" y="2285999"/>
            <a:ext cx="10932160" cy="3931921"/>
          </a:xfrm>
          <a:prstGeom prst="rect">
            <a:avLst/>
          </a:prstGeom>
          <a:noFill/>
          <a:ln>
            <a:noFill/>
          </a:ln>
        </p:spPr>
      </p:pic>
    </p:spTree>
    <p:extLst>
      <p:ext uri="{BB962C8B-B14F-4D97-AF65-F5344CB8AC3E}">
        <p14:creationId xmlns:p14="http://schemas.microsoft.com/office/powerpoint/2010/main" val="302241932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19760"/>
            <a:ext cx="10972800" cy="1788160"/>
          </a:xfrm>
          <a:solidFill>
            <a:schemeClr val="accent4">
              <a:lumMod val="75000"/>
              <a:alpha val="25000"/>
            </a:schemeClr>
          </a:solidFill>
        </p:spPr>
        <p:txBody>
          <a:bodyPr/>
          <a:lstStyle/>
          <a:p>
            <a:r>
              <a:rPr lang="en-US" b="1" dirty="0" smtClean="0">
                <a:latin typeface="Times New Roman" panose="02020603050405020304" pitchFamily="18" charset="0"/>
                <a:cs typeface="Times New Roman" panose="02020603050405020304" pitchFamily="18" charset="0"/>
              </a:rPr>
              <a:t>Test Case (TDD)</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2407920"/>
            <a:ext cx="10972800" cy="3860800"/>
          </a:xfrm>
          <a:solidFill>
            <a:srgbClr val="EAD086"/>
          </a:solidFill>
        </p:spPr>
        <p:txBody>
          <a:bodyPr>
            <a:normAutofit/>
          </a:bodyPr>
          <a:lstStyle/>
          <a:p>
            <a:pPr lvl="0">
              <a:buClr>
                <a:schemeClr val="accent4">
                  <a:lumMod val="75000"/>
                </a:schemeClr>
              </a:buClr>
              <a:buFont typeface="Wingdings" panose="05000000000000000000" pitchFamily="2" charset="2"/>
              <a:buChar char="v"/>
            </a:pPr>
            <a:r>
              <a:rPr lang="en-US" b="1" dirty="0" smtClean="0"/>
              <a:t>1.RED </a:t>
            </a:r>
            <a:r>
              <a:rPr lang="en-US" b="1" dirty="0"/>
              <a:t>(TDD Phase) → Write failing Test First </a:t>
            </a:r>
            <a:endParaRPr lang="en-US" b="1" dirty="0" smtClean="0"/>
          </a:p>
          <a:p>
            <a:pPr marL="0" lvl="0" indent="0">
              <a:buClr>
                <a:schemeClr val="accent4">
                  <a:lumMod val="75000"/>
                </a:schemeClr>
              </a:buClr>
              <a:buNone/>
            </a:pPr>
            <a:endParaRPr lang="en-US" dirty="0">
              <a:latin typeface="Times New Roman" panose="02020603050405020304" pitchFamily="18" charset="0"/>
              <a:cs typeface="Times New Roman" panose="02020603050405020304" pitchFamily="18" charset="0"/>
            </a:endParaRPr>
          </a:p>
          <a:p>
            <a:pPr>
              <a:buClr>
                <a:schemeClr val="accent4">
                  <a:lumMod val="75000"/>
                </a:schemeClr>
              </a:buClr>
              <a:buFont typeface="Wingdings" panose="05000000000000000000" pitchFamily="2" charset="2"/>
              <a:buChar char="v"/>
            </a:pPr>
            <a:r>
              <a:rPr lang="en-US" b="1" dirty="0"/>
              <a:t>2. GREEN (TDD Phase) → Implement Minimum Code to Pass </a:t>
            </a:r>
            <a:r>
              <a:rPr lang="en-US" b="1" dirty="0" smtClean="0"/>
              <a:t>Test</a:t>
            </a:r>
          </a:p>
          <a:p>
            <a:pPr marL="0" indent="0">
              <a:buClr>
                <a:schemeClr val="accent4">
                  <a:lumMod val="75000"/>
                </a:schemeClr>
              </a:buClr>
              <a:buNone/>
            </a:pPr>
            <a:endParaRPr lang="en-US" dirty="0"/>
          </a:p>
          <a:p>
            <a:pPr>
              <a:buClr>
                <a:schemeClr val="accent4">
                  <a:lumMod val="75000"/>
                </a:schemeClr>
              </a:buClr>
              <a:buFont typeface="Wingdings" panose="05000000000000000000" pitchFamily="2" charset="2"/>
              <a:buChar char="v"/>
            </a:pPr>
            <a:r>
              <a:rPr lang="en-US" b="1" dirty="0"/>
              <a:t>3.Refactored Version: (TDD Phase) Remove duplication, improve readability</a:t>
            </a:r>
          </a:p>
          <a:p>
            <a:pPr marL="0" indent="0">
              <a:buClr>
                <a:schemeClr val="accent4">
                  <a:lumMod val="75000"/>
                </a:schemeClr>
              </a:buClr>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087916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19760"/>
            <a:ext cx="10972800" cy="1788160"/>
          </a:xfrm>
          <a:solidFill>
            <a:schemeClr val="accent4">
              <a:lumMod val="75000"/>
              <a:alpha val="25000"/>
            </a:schemeClr>
          </a:solidFill>
        </p:spPr>
        <p:txBody>
          <a:bodyPr/>
          <a:lstStyle/>
          <a:p>
            <a:pPr lvl="0">
              <a:buClr>
                <a:schemeClr val="accent4">
                  <a:lumMod val="75000"/>
                </a:schemeClr>
              </a:buClr>
            </a:pPr>
            <a:r>
              <a:rPr lang="en-US" b="1" dirty="0" smtClean="0"/>
              <a:t>1.RED </a:t>
            </a:r>
            <a:r>
              <a:rPr lang="en-US" b="1" dirty="0"/>
              <a:t>(TDD Phase) → Write failing Test First </a:t>
            </a:r>
          </a:p>
        </p:txBody>
      </p:sp>
      <p:pic>
        <p:nvPicPr>
          <p:cNvPr id="5" name="Content Placeholder 4"/>
          <p:cNvPicPr>
            <a:picLocks noGrp="1"/>
          </p:cNvPicPr>
          <p:nvPr>
            <p:ph idx="1"/>
          </p:nvPr>
        </p:nvPicPr>
        <p:blipFill>
          <a:blip r:embed="rId2"/>
          <a:stretch>
            <a:fillRect/>
          </a:stretch>
        </p:blipFill>
        <p:spPr>
          <a:xfrm>
            <a:off x="609600" y="2407920"/>
            <a:ext cx="10972800" cy="3830320"/>
          </a:xfrm>
          <a:prstGeom prst="rect">
            <a:avLst/>
          </a:prstGeom>
        </p:spPr>
      </p:pic>
    </p:spTree>
    <p:extLst>
      <p:ext uri="{BB962C8B-B14F-4D97-AF65-F5344CB8AC3E}">
        <p14:creationId xmlns:p14="http://schemas.microsoft.com/office/powerpoint/2010/main" val="166027594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19760"/>
            <a:ext cx="10972800" cy="1788160"/>
          </a:xfrm>
          <a:solidFill>
            <a:schemeClr val="accent4">
              <a:lumMod val="75000"/>
              <a:alpha val="25000"/>
            </a:schemeClr>
          </a:solidFill>
        </p:spPr>
        <p:txBody>
          <a:bodyPr/>
          <a:lstStyle/>
          <a:p>
            <a:pPr>
              <a:buClr>
                <a:schemeClr val="accent4">
                  <a:lumMod val="75000"/>
                </a:schemeClr>
              </a:buClr>
            </a:pPr>
            <a:r>
              <a:rPr lang="en-US" b="1" dirty="0" smtClean="0"/>
              <a:t>2. </a:t>
            </a:r>
            <a:r>
              <a:rPr lang="en-US" b="1" dirty="0"/>
              <a:t>GREEN (TDD Phase) → Implement Minimum Code to Pass Test</a:t>
            </a:r>
          </a:p>
        </p:txBody>
      </p:sp>
      <p:sp>
        <p:nvSpPr>
          <p:cNvPr id="3" name="Content Placeholder 2"/>
          <p:cNvSpPr>
            <a:spLocks noGrp="1"/>
          </p:cNvSpPr>
          <p:nvPr>
            <p:ph idx="1"/>
          </p:nvPr>
        </p:nvSpPr>
        <p:spPr/>
        <p:txBody>
          <a:bodyPr/>
          <a:lstStyle/>
          <a:p>
            <a:endParaRPr lang="en-US"/>
          </a:p>
        </p:txBody>
      </p:sp>
      <p:pic>
        <p:nvPicPr>
          <p:cNvPr id="6" name="Picture 5"/>
          <p:cNvPicPr/>
          <p:nvPr/>
        </p:nvPicPr>
        <p:blipFill>
          <a:blip r:embed="rId2"/>
          <a:stretch>
            <a:fillRect/>
          </a:stretch>
        </p:blipFill>
        <p:spPr>
          <a:xfrm>
            <a:off x="609600" y="2407921"/>
            <a:ext cx="10972800" cy="3840480"/>
          </a:xfrm>
          <a:prstGeom prst="rect">
            <a:avLst/>
          </a:prstGeom>
        </p:spPr>
      </p:pic>
    </p:spTree>
    <p:extLst>
      <p:ext uri="{BB962C8B-B14F-4D97-AF65-F5344CB8AC3E}">
        <p14:creationId xmlns:p14="http://schemas.microsoft.com/office/powerpoint/2010/main" val="220012351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19760"/>
            <a:ext cx="10972800" cy="1788160"/>
          </a:xfrm>
          <a:solidFill>
            <a:schemeClr val="accent4">
              <a:lumMod val="75000"/>
              <a:alpha val="25000"/>
            </a:schemeClr>
          </a:solidFill>
        </p:spPr>
        <p:txBody>
          <a:bodyPr/>
          <a:lstStyle/>
          <a:p>
            <a:pPr>
              <a:buClr>
                <a:schemeClr val="accent4">
                  <a:lumMod val="75000"/>
                </a:schemeClr>
              </a:buClr>
            </a:pPr>
            <a:r>
              <a:rPr lang="en-US" b="1" dirty="0"/>
              <a:t>3.Refactored Version: (TDD Phase) Remove duplication, improve readability</a:t>
            </a:r>
          </a:p>
        </p:txBody>
      </p:sp>
      <p:pic>
        <p:nvPicPr>
          <p:cNvPr id="5" name="Content Placeholder 4"/>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609600" y="2407920"/>
            <a:ext cx="10972800" cy="3840479"/>
          </a:xfrm>
          <a:prstGeom prst="rect">
            <a:avLst/>
          </a:prstGeom>
        </p:spPr>
      </p:pic>
      <p:sp>
        <p:nvSpPr>
          <p:cNvPr id="7" name="Down Arrow Callout 6"/>
          <p:cNvSpPr/>
          <p:nvPr/>
        </p:nvSpPr>
        <p:spPr>
          <a:xfrm rot="5400000">
            <a:off x="9763917" y="3718403"/>
            <a:ext cx="2122805" cy="1514158"/>
          </a:xfrm>
          <a:prstGeom prst="downArrowCallout">
            <a:avLst/>
          </a:prstGeom>
          <a:ln>
            <a:solidFill>
              <a:srgbClr val="FF0000"/>
            </a:solidFill>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 Box 17"/>
          <p:cNvSpPr txBox="1"/>
          <p:nvPr/>
        </p:nvSpPr>
        <p:spPr>
          <a:xfrm>
            <a:off x="10825319" y="3917157"/>
            <a:ext cx="751205" cy="1316990"/>
          </a:xfrm>
          <a:prstGeom prst="rect">
            <a:avLst/>
          </a:prstGeom>
          <a:solidFill>
            <a:schemeClr val="lt1"/>
          </a:solidFill>
          <a:ln w="6350">
            <a:solidFill>
              <a:schemeClr val="bg1"/>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b="1">
                <a:effectLst/>
                <a:latin typeface="Times New Roman" panose="02020603050405020304" pitchFamily="18" charset="0"/>
                <a:ea typeface="Calibri" panose="020F0502020204030204" pitchFamily="34" charset="0"/>
                <a:cs typeface="Times New Roman" panose="02020603050405020304" pitchFamily="18" charset="0"/>
              </a:rPr>
              <a:t>Refactor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100" b="1">
                <a:effectLst/>
                <a:latin typeface="Times New Roman" panose="02020603050405020304" pitchFamily="18" charset="0"/>
                <a:ea typeface="Calibri" panose="020F0502020204030204" pitchFamily="34" charset="0"/>
                <a:cs typeface="Times New Roman" panose="02020603050405020304" pitchFamily="18" charset="0"/>
              </a:rPr>
              <a:t>Code For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100" b="1">
                <a:effectLst/>
                <a:latin typeface="Times New Roman" panose="02020603050405020304" pitchFamily="18" charset="0"/>
                <a:ea typeface="Calibri" panose="020F0502020204030204" pitchFamily="34" charset="0"/>
                <a:cs typeface="Times New Roman" panose="02020603050405020304" pitchFamily="18" charset="0"/>
              </a:rPr>
              <a:t>Fee Receipt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4498751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19760"/>
            <a:ext cx="10972800" cy="1788160"/>
          </a:xfrm>
          <a:solidFill>
            <a:schemeClr val="accent4">
              <a:lumMod val="75000"/>
              <a:alpha val="25000"/>
            </a:schemeClr>
          </a:solidFill>
        </p:spPr>
        <p:txBody>
          <a:bodyPr/>
          <a:lstStyle/>
          <a:p>
            <a:pPr>
              <a:buClr>
                <a:schemeClr val="accent4">
                  <a:lumMod val="75000"/>
                </a:schemeClr>
              </a:buClr>
            </a:pPr>
            <a:r>
              <a:rPr lang="en-US" b="1" dirty="0"/>
              <a:t>Test Case Table for Student Fee Module</a:t>
            </a:r>
            <a:r>
              <a:rPr lang="en-US" dirty="0"/>
              <a:t/>
            </a:r>
            <a:br>
              <a:rPr lang="en-US" dirty="0"/>
            </a:br>
            <a:r>
              <a:rPr lang="en-US" b="1" dirty="0" smtClean="0"/>
              <a:t> </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72322403"/>
              </p:ext>
            </p:extLst>
          </p:nvPr>
        </p:nvGraphicFramePr>
        <p:xfrm>
          <a:off x="609597" y="2407919"/>
          <a:ext cx="10972802" cy="3936459"/>
        </p:xfrm>
        <a:graphic>
          <a:graphicData uri="http://schemas.openxmlformats.org/drawingml/2006/table">
            <a:tbl>
              <a:tblPr firstRow="1" firstCol="1" bandRow="1">
                <a:tableStyleId>{BDBED569-4797-4DF1-A0F4-6AAB3CD982D8}</a:tableStyleId>
              </a:tblPr>
              <a:tblGrid>
                <a:gridCol w="1563691">
                  <a:extLst>
                    <a:ext uri="{9D8B030D-6E8A-4147-A177-3AD203B41FA5}">
                      <a16:colId xmlns:a16="http://schemas.microsoft.com/office/drawing/2014/main" val="3390976242"/>
                    </a:ext>
                  </a:extLst>
                </a:gridCol>
                <a:gridCol w="2615140">
                  <a:extLst>
                    <a:ext uri="{9D8B030D-6E8A-4147-A177-3AD203B41FA5}">
                      <a16:colId xmlns:a16="http://schemas.microsoft.com/office/drawing/2014/main" val="4024080451"/>
                    </a:ext>
                  </a:extLst>
                </a:gridCol>
                <a:gridCol w="3262184">
                  <a:extLst>
                    <a:ext uri="{9D8B030D-6E8A-4147-A177-3AD203B41FA5}">
                      <a16:colId xmlns:a16="http://schemas.microsoft.com/office/drawing/2014/main" val="2821844922"/>
                    </a:ext>
                  </a:extLst>
                </a:gridCol>
                <a:gridCol w="2183777">
                  <a:extLst>
                    <a:ext uri="{9D8B030D-6E8A-4147-A177-3AD203B41FA5}">
                      <a16:colId xmlns:a16="http://schemas.microsoft.com/office/drawing/2014/main" val="839636140"/>
                    </a:ext>
                  </a:extLst>
                </a:gridCol>
                <a:gridCol w="1348010">
                  <a:extLst>
                    <a:ext uri="{9D8B030D-6E8A-4147-A177-3AD203B41FA5}">
                      <a16:colId xmlns:a16="http://schemas.microsoft.com/office/drawing/2014/main" val="4124934138"/>
                    </a:ext>
                  </a:extLst>
                </a:gridCol>
              </a:tblGrid>
              <a:tr h="241287">
                <a:tc>
                  <a:txBody>
                    <a:bodyPr/>
                    <a:lstStyle/>
                    <a:p>
                      <a:pPr algn="ctr">
                        <a:lnSpc>
                          <a:spcPct val="107000"/>
                        </a:lnSpc>
                        <a:spcAft>
                          <a:spcPts val="0"/>
                        </a:spcAft>
                      </a:pPr>
                      <a:r>
                        <a:rPr lang="en-US" sz="1800" dirty="0">
                          <a:effectLst/>
                        </a:rPr>
                        <a:t>Step No.</a:t>
                      </a:r>
                      <a:endParaRPr lang="en-US" sz="18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tc>
                  <a:txBody>
                    <a:bodyPr/>
                    <a:lstStyle/>
                    <a:p>
                      <a:pPr algn="ctr">
                        <a:lnSpc>
                          <a:spcPct val="107000"/>
                        </a:lnSpc>
                        <a:spcAft>
                          <a:spcPts val="0"/>
                        </a:spcAft>
                      </a:pPr>
                      <a:r>
                        <a:rPr lang="en-US" sz="1800" dirty="0">
                          <a:effectLst/>
                        </a:rPr>
                        <a:t>Step Details</a:t>
                      </a:r>
                      <a:endParaRPr lang="en-US" sz="18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tc>
                  <a:txBody>
                    <a:bodyPr/>
                    <a:lstStyle/>
                    <a:p>
                      <a:pPr algn="ctr">
                        <a:lnSpc>
                          <a:spcPct val="107000"/>
                        </a:lnSpc>
                        <a:spcAft>
                          <a:spcPts val="0"/>
                        </a:spcAft>
                      </a:pPr>
                      <a:r>
                        <a:rPr lang="en-US" sz="1800" dirty="0">
                          <a:effectLst/>
                        </a:rPr>
                        <a:t>Expected Result</a:t>
                      </a:r>
                      <a:endParaRPr lang="en-US" sz="18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tc>
                  <a:txBody>
                    <a:bodyPr/>
                    <a:lstStyle/>
                    <a:p>
                      <a:pPr algn="ctr">
                        <a:lnSpc>
                          <a:spcPct val="107000"/>
                        </a:lnSpc>
                        <a:spcAft>
                          <a:spcPts val="0"/>
                        </a:spcAft>
                      </a:pPr>
                      <a:r>
                        <a:rPr lang="en-US" sz="1800" dirty="0">
                          <a:effectLst/>
                        </a:rPr>
                        <a:t>Actual Result</a:t>
                      </a:r>
                      <a:endParaRPr lang="en-US" sz="18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tc>
                  <a:txBody>
                    <a:bodyPr/>
                    <a:lstStyle/>
                    <a:p>
                      <a:pPr algn="ctr">
                        <a:lnSpc>
                          <a:spcPct val="107000"/>
                        </a:lnSpc>
                        <a:spcAft>
                          <a:spcPts val="0"/>
                        </a:spcAft>
                      </a:pPr>
                      <a:r>
                        <a:rPr lang="en-US" sz="1800" dirty="0">
                          <a:effectLst/>
                        </a:rPr>
                        <a:t>Status</a:t>
                      </a:r>
                      <a:endParaRPr lang="en-US" sz="18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extLst>
                  <a:ext uri="{0D108BD9-81ED-4DB2-BD59-A6C34878D82A}">
                    <a16:rowId xmlns:a16="http://schemas.microsoft.com/office/drawing/2014/main" val="961910768"/>
                  </a:ext>
                </a:extLst>
              </a:tr>
              <a:tr h="650231">
                <a:tc>
                  <a:txBody>
                    <a:bodyPr/>
                    <a:lstStyle/>
                    <a:p>
                      <a:pPr>
                        <a:lnSpc>
                          <a:spcPct val="107000"/>
                        </a:lnSpc>
                        <a:spcAft>
                          <a:spcPts val="0"/>
                        </a:spcAft>
                      </a:pPr>
                      <a:r>
                        <a:rPr lang="en-US" sz="1400">
                          <a:effectLst/>
                        </a:rPr>
                        <a:t>TC-01</a:t>
                      </a:r>
                      <a:endParaRPr lang="en-US" sz="1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tc>
                  <a:txBody>
                    <a:bodyPr/>
                    <a:lstStyle/>
                    <a:p>
                      <a:pPr>
                        <a:lnSpc>
                          <a:spcPct val="107000"/>
                        </a:lnSpc>
                        <a:spcAft>
                          <a:spcPts val="0"/>
                        </a:spcAft>
                      </a:pPr>
                      <a:r>
                        <a:rPr lang="en-US" sz="1400" dirty="0">
                          <a:effectLst/>
                        </a:rPr>
                        <a:t>Open Student Module and select "Upload Fee Challan" from menu</a:t>
                      </a:r>
                      <a:endParaRPr lang="en-US" sz="14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tc>
                  <a:txBody>
                    <a:bodyPr/>
                    <a:lstStyle/>
                    <a:p>
                      <a:pPr>
                        <a:lnSpc>
                          <a:spcPct val="107000"/>
                        </a:lnSpc>
                        <a:spcAft>
                          <a:spcPts val="0"/>
                        </a:spcAft>
                      </a:pPr>
                      <a:r>
                        <a:rPr lang="en-US" sz="1400">
                          <a:effectLst/>
                        </a:rPr>
                        <a:t>System sets feeUploaded = true and shows: "✔ Fee challan uploaded successfully!"</a:t>
                      </a:r>
                      <a:endParaRPr lang="en-US" sz="1400" b="1">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tc>
                  <a:txBody>
                    <a:bodyPr/>
                    <a:lstStyle/>
                    <a:p>
                      <a:pPr>
                        <a:lnSpc>
                          <a:spcPct val="107000"/>
                        </a:lnSpc>
                        <a:spcAft>
                          <a:spcPts val="0"/>
                        </a:spcAft>
                      </a:pPr>
                      <a:r>
                        <a:rPr lang="en-US" sz="1400">
                          <a:effectLst/>
                        </a:rPr>
                        <a:t>✔ Fee challan uploaded successfully!</a:t>
                      </a:r>
                      <a:endParaRPr lang="en-US" sz="1400" b="1">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tc>
                  <a:txBody>
                    <a:bodyPr/>
                    <a:lstStyle/>
                    <a:p>
                      <a:pPr>
                        <a:lnSpc>
                          <a:spcPct val="107000"/>
                        </a:lnSpc>
                        <a:spcAft>
                          <a:spcPts val="0"/>
                        </a:spcAft>
                      </a:pPr>
                      <a:r>
                        <a:rPr lang="en-US" sz="1400">
                          <a:effectLst/>
                        </a:rPr>
                        <a:t>PASS</a:t>
                      </a:r>
                      <a:endParaRPr lang="en-US" sz="1400" b="1">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extLst>
                  <a:ext uri="{0D108BD9-81ED-4DB2-BD59-A6C34878D82A}">
                    <a16:rowId xmlns:a16="http://schemas.microsoft.com/office/drawing/2014/main" val="1435147726"/>
                  </a:ext>
                </a:extLst>
              </a:tr>
              <a:tr h="641079">
                <a:tc>
                  <a:txBody>
                    <a:bodyPr/>
                    <a:lstStyle/>
                    <a:p>
                      <a:pPr>
                        <a:lnSpc>
                          <a:spcPct val="107000"/>
                        </a:lnSpc>
                        <a:spcAft>
                          <a:spcPts val="0"/>
                        </a:spcAft>
                      </a:pPr>
                      <a:r>
                        <a:rPr lang="en-US" sz="1400" dirty="0">
                          <a:effectLst/>
                        </a:rPr>
                        <a:t>TC-02</a:t>
                      </a:r>
                      <a:endPar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tc>
                  <a:txBody>
                    <a:bodyPr/>
                    <a:lstStyle/>
                    <a:p>
                      <a:pPr>
                        <a:lnSpc>
                          <a:spcPct val="107000"/>
                        </a:lnSpc>
                        <a:spcAft>
                          <a:spcPts val="0"/>
                        </a:spcAft>
                      </a:pPr>
                      <a:r>
                        <a:rPr lang="en-US" sz="1400">
                          <a:effectLst/>
                        </a:rPr>
                        <a:t>Try uploading fee challan again (when already uploaded)</a:t>
                      </a:r>
                      <a:endParaRPr lang="en-US" sz="1400" b="1">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tc>
                  <a:txBody>
                    <a:bodyPr/>
                    <a:lstStyle/>
                    <a:p>
                      <a:pPr>
                        <a:lnSpc>
                          <a:spcPct val="107000"/>
                        </a:lnSpc>
                        <a:spcAft>
                          <a:spcPts val="0"/>
                        </a:spcAft>
                      </a:pPr>
                      <a:r>
                        <a:rPr lang="en-US" sz="1400" dirty="0">
                          <a:effectLst/>
                        </a:rPr>
                        <a:t>System should show a message: "Fee already uploaded!" (Refactored validation)</a:t>
                      </a:r>
                      <a:endParaRPr lang="en-US" sz="14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tc>
                  <a:txBody>
                    <a:bodyPr/>
                    <a:lstStyle/>
                    <a:p>
                      <a:pPr>
                        <a:lnSpc>
                          <a:spcPct val="107000"/>
                        </a:lnSpc>
                        <a:spcAft>
                          <a:spcPts val="0"/>
                        </a:spcAft>
                      </a:pPr>
                      <a:r>
                        <a:rPr lang="en-US" sz="1400">
                          <a:effectLst/>
                        </a:rPr>
                        <a:t>Fee already uploaded!</a:t>
                      </a:r>
                      <a:endParaRPr lang="en-US" sz="1400" b="1">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tc>
                  <a:txBody>
                    <a:bodyPr/>
                    <a:lstStyle/>
                    <a:p>
                      <a:pPr>
                        <a:lnSpc>
                          <a:spcPct val="107000"/>
                        </a:lnSpc>
                        <a:spcAft>
                          <a:spcPts val="0"/>
                        </a:spcAft>
                      </a:pPr>
                      <a:r>
                        <a:rPr lang="en-US" sz="1400" dirty="0">
                          <a:effectLst/>
                        </a:rPr>
                        <a:t>PASS</a:t>
                      </a:r>
                      <a:endParaRPr lang="en-US" sz="14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extLst>
                  <a:ext uri="{0D108BD9-81ED-4DB2-BD59-A6C34878D82A}">
                    <a16:rowId xmlns:a16="http://schemas.microsoft.com/office/drawing/2014/main" val="3751000424"/>
                  </a:ext>
                </a:extLst>
              </a:tr>
              <a:tr h="769294">
                <a:tc>
                  <a:txBody>
                    <a:bodyPr/>
                    <a:lstStyle/>
                    <a:p>
                      <a:pPr>
                        <a:lnSpc>
                          <a:spcPct val="107000"/>
                        </a:lnSpc>
                        <a:spcAft>
                          <a:spcPts val="0"/>
                        </a:spcAft>
                      </a:pPr>
                      <a:r>
                        <a:rPr lang="en-US" sz="1400">
                          <a:effectLst/>
                        </a:rPr>
                        <a:t>TC-03</a:t>
                      </a:r>
                      <a:endParaRPr lang="en-US" sz="1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tc>
                  <a:txBody>
                    <a:bodyPr/>
                    <a:lstStyle/>
                    <a:p>
                      <a:pPr>
                        <a:lnSpc>
                          <a:spcPct val="107000"/>
                        </a:lnSpc>
                        <a:spcAft>
                          <a:spcPts val="0"/>
                        </a:spcAft>
                      </a:pPr>
                      <a:r>
                        <a:rPr lang="en-US" sz="1400" dirty="0">
                          <a:effectLst/>
                        </a:rPr>
                        <a:t>System tries to upload challan with invalid student object (null student – negative test)</a:t>
                      </a:r>
                      <a:endParaRPr lang="en-US" sz="14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tc>
                  <a:txBody>
                    <a:bodyPr/>
                    <a:lstStyle/>
                    <a:p>
                      <a:pPr>
                        <a:lnSpc>
                          <a:spcPct val="107000"/>
                        </a:lnSpc>
                        <a:spcAft>
                          <a:spcPts val="0"/>
                        </a:spcAft>
                      </a:pPr>
                      <a:r>
                        <a:rPr lang="en-US" sz="1400" dirty="0">
                          <a:effectLst/>
                        </a:rPr>
                        <a:t>System should NOT crash. It should show: "Error: Student not found!"</a:t>
                      </a:r>
                      <a:endParaRPr lang="en-US" sz="14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tc>
                  <a:txBody>
                    <a:bodyPr/>
                    <a:lstStyle/>
                    <a:p>
                      <a:pPr>
                        <a:lnSpc>
                          <a:spcPct val="107000"/>
                        </a:lnSpc>
                        <a:spcAft>
                          <a:spcPts val="0"/>
                        </a:spcAft>
                      </a:pPr>
                      <a:r>
                        <a:rPr lang="en-US" sz="1400">
                          <a:effectLst/>
                        </a:rPr>
                        <a:t>Error: Student not found!</a:t>
                      </a:r>
                      <a:endParaRPr lang="en-US" sz="1400" b="1">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tc>
                  <a:txBody>
                    <a:bodyPr/>
                    <a:lstStyle/>
                    <a:p>
                      <a:pPr>
                        <a:lnSpc>
                          <a:spcPct val="107000"/>
                        </a:lnSpc>
                        <a:spcAft>
                          <a:spcPts val="0"/>
                        </a:spcAft>
                      </a:pPr>
                      <a:r>
                        <a:rPr lang="en-US" sz="1400" dirty="0">
                          <a:effectLst/>
                        </a:rPr>
                        <a:t>PASS / EXPECTED</a:t>
                      </a:r>
                      <a:endParaRPr lang="en-US" sz="14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extLst>
                  <a:ext uri="{0D108BD9-81ED-4DB2-BD59-A6C34878D82A}">
                    <a16:rowId xmlns:a16="http://schemas.microsoft.com/office/drawing/2014/main" val="2610540092"/>
                  </a:ext>
                </a:extLst>
              </a:tr>
              <a:tr h="897510">
                <a:tc>
                  <a:txBody>
                    <a:bodyPr/>
                    <a:lstStyle/>
                    <a:p>
                      <a:pPr>
                        <a:lnSpc>
                          <a:spcPct val="107000"/>
                        </a:lnSpc>
                        <a:spcAft>
                          <a:spcPts val="0"/>
                        </a:spcAft>
                      </a:pPr>
                      <a:r>
                        <a:rPr lang="en-US" sz="1400">
                          <a:effectLst/>
                        </a:rPr>
                        <a:t>TC-04</a:t>
                      </a:r>
                      <a:endParaRPr lang="en-US" sz="1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tc>
                  <a:txBody>
                    <a:bodyPr/>
                    <a:lstStyle/>
                    <a:p>
                      <a:pPr>
                        <a:lnSpc>
                          <a:spcPct val="107000"/>
                        </a:lnSpc>
                        <a:spcAft>
                          <a:spcPts val="0"/>
                        </a:spcAft>
                      </a:pPr>
                      <a:r>
                        <a:rPr lang="en-US" sz="1400">
                          <a:effectLst/>
                        </a:rPr>
                        <a:t>Student uploads challan but system fails internally (simulate by forcing exception)</a:t>
                      </a:r>
                      <a:endParaRPr lang="en-US" sz="1400" b="1">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tc>
                  <a:txBody>
                    <a:bodyPr/>
                    <a:lstStyle/>
                    <a:p>
                      <a:pPr>
                        <a:lnSpc>
                          <a:spcPct val="107000"/>
                        </a:lnSpc>
                        <a:spcAft>
                          <a:spcPts val="0"/>
                        </a:spcAft>
                      </a:pPr>
                      <a:r>
                        <a:rPr lang="en-US" sz="1400" dirty="0">
                          <a:effectLst/>
                        </a:rPr>
                        <a:t>System should catch exception and show: "Upload failed. Try again."</a:t>
                      </a:r>
                      <a:endParaRPr lang="en-US" sz="14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tc>
                  <a:txBody>
                    <a:bodyPr/>
                    <a:lstStyle/>
                    <a:p>
                      <a:pPr>
                        <a:lnSpc>
                          <a:spcPct val="107000"/>
                        </a:lnSpc>
                        <a:spcAft>
                          <a:spcPts val="0"/>
                        </a:spcAft>
                      </a:pPr>
                      <a:r>
                        <a:rPr lang="en-US" sz="1400" dirty="0">
                          <a:effectLst/>
                        </a:rPr>
                        <a:t>Upload failed. Try again.</a:t>
                      </a:r>
                      <a:endParaRPr lang="en-US" sz="14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tc>
                  <a:txBody>
                    <a:bodyPr/>
                    <a:lstStyle/>
                    <a:p>
                      <a:pPr>
                        <a:lnSpc>
                          <a:spcPct val="107000"/>
                        </a:lnSpc>
                        <a:spcAft>
                          <a:spcPts val="0"/>
                        </a:spcAft>
                      </a:pPr>
                      <a:r>
                        <a:rPr lang="en-US" sz="1400">
                          <a:effectLst/>
                        </a:rPr>
                        <a:t>PASS / EXPECTED</a:t>
                      </a:r>
                      <a:endParaRPr lang="en-US" sz="1400" b="1">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extLst>
                  <a:ext uri="{0D108BD9-81ED-4DB2-BD59-A6C34878D82A}">
                    <a16:rowId xmlns:a16="http://schemas.microsoft.com/office/drawing/2014/main" val="1727060995"/>
                  </a:ext>
                </a:extLst>
              </a:tr>
              <a:tr h="641079">
                <a:tc>
                  <a:txBody>
                    <a:bodyPr/>
                    <a:lstStyle/>
                    <a:p>
                      <a:pPr>
                        <a:lnSpc>
                          <a:spcPct val="107000"/>
                        </a:lnSpc>
                        <a:spcAft>
                          <a:spcPts val="0"/>
                        </a:spcAft>
                      </a:pPr>
                      <a:r>
                        <a:rPr lang="en-US" sz="1400">
                          <a:effectLst/>
                        </a:rPr>
                        <a:t>TC-05</a:t>
                      </a:r>
                      <a:endParaRPr lang="en-US" sz="1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tc>
                  <a:txBody>
                    <a:bodyPr/>
                    <a:lstStyle/>
                    <a:p>
                      <a:pPr>
                        <a:lnSpc>
                          <a:spcPct val="107000"/>
                        </a:lnSpc>
                        <a:spcAft>
                          <a:spcPts val="0"/>
                        </a:spcAft>
                      </a:pPr>
                      <a:r>
                        <a:rPr lang="en-US" sz="1400">
                          <a:effectLst/>
                        </a:rPr>
                        <a:t>Student selects Fee Upload but enters wrong menu input (invalid option)</a:t>
                      </a:r>
                      <a:endParaRPr lang="en-US" sz="1400" b="1">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tc>
                  <a:txBody>
                    <a:bodyPr/>
                    <a:lstStyle/>
                    <a:p>
                      <a:pPr>
                        <a:lnSpc>
                          <a:spcPct val="107000"/>
                        </a:lnSpc>
                        <a:spcAft>
                          <a:spcPts val="0"/>
                        </a:spcAft>
                      </a:pPr>
                      <a:r>
                        <a:rPr lang="en-US" sz="1400" dirty="0">
                          <a:effectLst/>
                        </a:rPr>
                        <a:t>System should show: "Invalid option!"</a:t>
                      </a:r>
                      <a:endParaRPr lang="en-US" sz="14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tc>
                  <a:txBody>
                    <a:bodyPr/>
                    <a:lstStyle/>
                    <a:p>
                      <a:pPr>
                        <a:lnSpc>
                          <a:spcPct val="107000"/>
                        </a:lnSpc>
                        <a:spcAft>
                          <a:spcPts val="0"/>
                        </a:spcAft>
                      </a:pPr>
                      <a:r>
                        <a:rPr lang="en-US" sz="1400" dirty="0">
                          <a:effectLst/>
                        </a:rPr>
                        <a:t>Invalid option!</a:t>
                      </a:r>
                      <a:endParaRPr lang="en-US" sz="14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tc>
                  <a:txBody>
                    <a:bodyPr/>
                    <a:lstStyle/>
                    <a:p>
                      <a:pPr>
                        <a:lnSpc>
                          <a:spcPct val="107000"/>
                        </a:lnSpc>
                        <a:spcAft>
                          <a:spcPts val="0"/>
                        </a:spcAft>
                      </a:pPr>
                      <a:r>
                        <a:rPr lang="en-US" sz="1400" dirty="0">
                          <a:effectLst/>
                        </a:rPr>
                        <a:t>PASS</a:t>
                      </a:r>
                      <a:endParaRPr lang="en-US" sz="14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8816" marR="38816" marT="0" marB="0" anchor="ctr"/>
                </a:tc>
                <a:extLst>
                  <a:ext uri="{0D108BD9-81ED-4DB2-BD59-A6C34878D82A}">
                    <a16:rowId xmlns:a16="http://schemas.microsoft.com/office/drawing/2014/main" val="853965561"/>
                  </a:ext>
                </a:extLst>
              </a:tr>
            </a:tbl>
          </a:graphicData>
        </a:graphic>
      </p:graphicFrame>
    </p:spTree>
    <p:extLst>
      <p:ext uri="{BB962C8B-B14F-4D97-AF65-F5344CB8AC3E}">
        <p14:creationId xmlns:p14="http://schemas.microsoft.com/office/powerpoint/2010/main" val="89216369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19760"/>
            <a:ext cx="10972800" cy="1788160"/>
          </a:xfrm>
          <a:solidFill>
            <a:schemeClr val="accent4">
              <a:lumMod val="75000"/>
              <a:alpha val="25000"/>
            </a:schemeClr>
          </a:solidFill>
        </p:spPr>
        <p:txBody>
          <a:bodyPr/>
          <a:lstStyle/>
          <a:p>
            <a:r>
              <a:rPr lang="en-US" b="1" dirty="0"/>
              <a:t>Conclusion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2407920"/>
            <a:ext cx="10972800" cy="3860800"/>
          </a:xfrm>
          <a:solidFill>
            <a:schemeClr val="accent6">
              <a:lumMod val="60000"/>
              <a:lumOff val="40000"/>
            </a:schemeClr>
          </a:solidFill>
        </p:spPr>
        <p:txBody>
          <a:bodyPr/>
          <a:lstStyle/>
          <a:p>
            <a:pPr marL="0" indent="0">
              <a:lnSpc>
                <a:spcPct val="200000"/>
              </a:lnSpc>
              <a:buNone/>
            </a:pPr>
            <a:r>
              <a:rPr lang="en-US" dirty="0"/>
              <a:t>The Hostel Management System automates key hostel tasks such as fee upload, complaints, room requests, attendance, and feedback. Using OOP, refactoring, and TDD, the system becomes easy to maintain and extend. It improves efficiency, reduces manual effort, and provides a strong foundation for future upgrades.</a:t>
            </a:r>
            <a:endParaRPr lang="en-US" dirty="0"/>
          </a:p>
        </p:txBody>
      </p:sp>
    </p:spTree>
    <p:extLst>
      <p:ext uri="{BB962C8B-B14F-4D97-AF65-F5344CB8AC3E}">
        <p14:creationId xmlns:p14="http://schemas.microsoft.com/office/powerpoint/2010/main" val="128349979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178</TotalTime>
  <Words>754</Words>
  <Application>Microsoft Office PowerPoint</Application>
  <PresentationFormat>Widescreen</PresentationFormat>
  <Paragraphs>128</Paragraphs>
  <Slides>24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Garamond</vt:lpstr>
      <vt:lpstr>Times New Roman</vt:lpstr>
      <vt:lpstr>Wingdings</vt:lpstr>
      <vt:lpstr>Organic</vt:lpstr>
      <vt:lpstr>Introduction </vt:lpstr>
      <vt:lpstr>Project Overview</vt:lpstr>
      <vt:lpstr>System Introduction</vt:lpstr>
      <vt:lpstr>System-Level Functional Requirements</vt:lpstr>
      <vt:lpstr>Key Actors</vt:lpstr>
      <vt:lpstr>Admin Functionalities</vt:lpstr>
      <vt:lpstr>Student Functionalities</vt:lpstr>
      <vt:lpstr> Staff Functionalities</vt:lpstr>
      <vt:lpstr>CEO Functionalities</vt:lpstr>
      <vt:lpstr>Actor → Use Case Mapping</vt:lpstr>
      <vt:lpstr>Hostel Management System Use Case Diagram</vt:lpstr>
      <vt:lpstr>Automated System Functions</vt:lpstr>
      <vt:lpstr>Object Diagram (Samples &amp; Associations)</vt:lpstr>
      <vt:lpstr>Object Diagram OF Hostel Management System</vt:lpstr>
      <vt:lpstr>Communication Diagram  (Complaint Process) </vt:lpstr>
      <vt:lpstr>Hostel Management System Communication Diagram (Complaint Handling)</vt:lpstr>
      <vt:lpstr>Timing Diagram (Attendance Process)</vt:lpstr>
      <vt:lpstr>Hostel Management System Timing Diagram (Student Attendance)</vt:lpstr>
      <vt:lpstr>Test Case (TDD)</vt:lpstr>
      <vt:lpstr>1.RED (TDD Phase) → Write failing Test First </vt:lpstr>
      <vt:lpstr>2. GREEN (TDD Phase) → Implement Minimum Code to Pass Test</vt:lpstr>
      <vt:lpstr>3.Refactored Version: (TDD Phase) Remove duplication, improve readability</vt:lpstr>
      <vt:lpstr>Test Case Table for Student Fee Module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Overview</dc:title>
  <dc:creator>Boss</dc:creator>
  <cp:lastModifiedBy>Boss</cp:lastModifiedBy>
  <cp:revision>42</cp:revision>
  <dcterms:created xsi:type="dcterms:W3CDTF">2025-11-22T08:52:51Z</dcterms:created>
  <dcterms:modified xsi:type="dcterms:W3CDTF">2025-12-09T19:35:27Z</dcterms:modified>
</cp:coreProperties>
</file>